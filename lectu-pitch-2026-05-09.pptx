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1554480"/>
            <a:ext cx="4114800" cy="1371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47207" y="3154680"/>
            <a:ext cx="109728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9441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i="1" b="0">
                <a:solidFill>
                  <a:srgbClr val="5B5B66"/>
                </a:solidFill>
                <a:latin typeface="Inter"/>
              </a:rPr>
              <a:t>Built for the Algerian university classroom.</a:t>
            </a:r>
          </a:p>
          <a:p>
            <a:pPr algn="ctr">
              <a:spcAft>
                <a:spcPts val="600"/>
              </a:spcAft>
            </a:pPr>
            <a:r>
              <a:rPr sz="1800" i="1" b="0">
                <a:solidFill>
                  <a:srgbClr val="5B5B66"/>
                </a:solidFill>
                <a:latin typeface="Inter"/>
              </a:rPr>
              <a:t>Hosted in Algeria. Priced in DZD.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ENSIA Incubator — Demo Day · 2026-05-09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i="0" b="0">
                <a:solidFill>
                  <a:srgbClr val="5B5B66"/>
                </a:solidFill>
                <a:latin typeface="Inter"/>
              </a:rPr>
              <a:t>[Founder 1]   ·   [Founder 2]   ·   [Founder 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i="1" b="0">
                <a:solidFill>
                  <a:srgbClr val="5B5B66"/>
                </a:solidFill>
                <a:latin typeface="Inter"/>
              </a:rPr>
              <a:t>3rd-year ENSIA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02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DEMO · 02</a:t>
            </a:r>
          </a:p>
        </p:txBody>
      </p:sp>
      <p:pic>
        <p:nvPicPr>
          <p:cNvPr id="6" name="Picture 5" descr="17-teacher-attendance-grid-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495" y="1280160"/>
            <a:ext cx="694944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280160"/>
            <a:ext cx="42976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i="0" b="1">
                <a:solidFill>
                  <a:srgbClr val="0B0B0F"/>
                </a:solidFill>
                <a:latin typeface="Source Serif Pro"/>
              </a:rPr>
              <a:t>In 90 seconds: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42976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i="0" b="0">
                <a:solidFill>
                  <a:srgbClr val="0B0B0F"/>
                </a:solidFill>
                <a:latin typeface="Inter"/>
              </a:rPr>
              <a:t>A teacher opens Lectu → Generates a QR code → 90 students check in → A live quiz happens → The teacher walks out with attendance, engagement, and grades — all captured.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42976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i="1" b="0">
                <a:solidFill>
                  <a:srgbClr val="E26412"/>
                </a:solidFill>
                <a:latin typeface="Inter"/>
              </a:rPr>
              <a:t>This is happening at ENSIA right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03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THE PROBLEM ·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400" i="0" b="1">
                <a:solidFill>
                  <a:srgbClr val="0B0B0F"/>
                </a:solidFill>
                <a:latin typeface="Source Serif Pro"/>
              </a:rPr>
              <a:t>How Algerian universities run
their classrooms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73152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212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1">
                <a:solidFill>
                  <a:srgbClr val="E26412"/>
                </a:solidFill>
                <a:latin typeface="Inter"/>
              </a:rPr>
              <a:t>WHAT TEACHERS DO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212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1">
                <a:solidFill>
                  <a:srgbClr val="E26412"/>
                </a:solidFill>
                <a:latin typeface="Inter"/>
              </a:rPr>
              <a:t>WHAT IT 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2120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Pass paper sign-in sheets in 200-person lectures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46120"/>
            <a:ext cx="52120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5B5B66"/>
                </a:solidFill>
                <a:latin typeface="Inter"/>
              </a:rPr>
              <a:t>Lost time, miscounts, fraud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52120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Track attendance in personal Excel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52120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5B5B66"/>
                </a:solidFill>
                <a:latin typeface="Inter"/>
              </a:rPr>
              <a:t>No analytics, no consolidation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51960"/>
            <a:ext cx="52120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Coordinate justifications via 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51960"/>
            <a:ext cx="52120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5B5B66"/>
                </a:solidFill>
                <a:latin typeface="Inter"/>
              </a:rPr>
              <a:t>No audit trail, no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52120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Run live quizzes via Kahoot (paid out of pocket)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52120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5B5B66"/>
                </a:solidFill>
                <a:latin typeface="Inter"/>
              </a:rPr>
              <a:t>$15–25 per teacher / month, not in DZD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52120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Enter grades in Progres at end of semester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57800"/>
            <a:ext cx="52120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5B5B66"/>
                </a:solidFill>
                <a:latin typeface="Inter"/>
              </a:rPr>
              <a:t>No real-time feedback to 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i="1" b="0">
                <a:solidFill>
                  <a:srgbClr val="0B0B0F"/>
                </a:solidFill>
                <a:latin typeface="Inter"/>
              </a:rPr>
              <a:t>Progres is a registrar. Moodle is a PDF dropbox. Nothing is built for the classroom.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04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THE SOLUTION ·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i="0" b="1">
                <a:solidFill>
                  <a:srgbClr val="0B0B0F"/>
                </a:solidFill>
                <a:latin typeface="Source Serif Pro"/>
              </a:rPr>
              <a:t>Four features, one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440680" cy="2194560"/>
          </a:xfrm>
          <a:prstGeom prst="rect">
            <a:avLst/>
          </a:prstGeom>
          <a:solidFill>
            <a:srgbClr val="FFFDF8"/>
          </a:solidFill>
          <a:ln w="6350">
            <a:solidFill>
              <a:srgbClr val="C7C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-teacher-module-ml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1760"/>
            <a:ext cx="2194560" cy="1463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08960" y="2514600"/>
            <a:ext cx="2697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i="0" b="1">
                <a:solidFill>
                  <a:srgbClr val="0B0B0F"/>
                </a:solidFill>
                <a:latin typeface="Inter"/>
              </a:rPr>
              <a:t>Attendance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926080"/>
            <a:ext cx="36576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3154680"/>
            <a:ext cx="2697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0">
                <a:solidFill>
                  <a:srgbClr val="5B5B66"/>
                </a:solidFill>
                <a:latin typeface="Inter"/>
              </a:rPr>
              <a:t>QR check-in · Manual mark · Card scan · Geofence verification · Offline mode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86000"/>
            <a:ext cx="5440680" cy="2194560"/>
          </a:xfrm>
          <a:prstGeom prst="rect">
            <a:avLst/>
          </a:prstGeom>
          <a:solidFill>
            <a:srgbClr val="FFFDF8"/>
          </a:solidFill>
          <a:ln w="6350">
            <a:solidFill>
              <a:srgbClr val="C7C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0-teacher-quiz-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51760"/>
            <a:ext cx="2194560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78240" y="2514600"/>
            <a:ext cx="2697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i="0" b="1">
                <a:solidFill>
                  <a:srgbClr val="0B0B0F"/>
                </a:solidFill>
                <a:latin typeface="Inter"/>
              </a:rPr>
              <a:t>Live &amp; Async Quizzes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2926080"/>
            <a:ext cx="36576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154680"/>
            <a:ext cx="2697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0">
                <a:solidFill>
                  <a:srgbClr val="5B5B66"/>
                </a:solidFill>
                <a:latin typeface="Inter"/>
              </a:rPr>
              <a:t>In-class real-time leaderboard · Scheduled async with auto-grading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09160"/>
            <a:ext cx="5440680" cy="2194560"/>
          </a:xfrm>
          <a:prstGeom prst="rect">
            <a:avLst/>
          </a:prstGeom>
          <a:solidFill>
            <a:srgbClr val="FFFDF8"/>
          </a:solidFill>
          <a:ln w="6350">
            <a:solidFill>
              <a:srgbClr val="C7C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22-teacher-justifica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074920"/>
            <a:ext cx="219456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108960" y="4937760"/>
            <a:ext cx="2697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i="0" b="1">
                <a:solidFill>
                  <a:srgbClr val="0B0B0F"/>
                </a:solidFill>
                <a:latin typeface="Inter"/>
              </a:rPr>
              <a:t>Justifications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5349240"/>
            <a:ext cx="36576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5577840"/>
            <a:ext cx="2697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0">
                <a:solidFill>
                  <a:srgbClr val="5B5B66"/>
                </a:solidFill>
                <a:latin typeface="Inter"/>
              </a:rPr>
              <a:t>Students submit with file attachments · Teachers/admin review and approve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709160"/>
            <a:ext cx="5440680" cy="2194560"/>
          </a:xfrm>
          <a:prstGeom prst="rect">
            <a:avLst/>
          </a:prstGeom>
          <a:solidFill>
            <a:srgbClr val="FFFDF8"/>
          </a:solidFill>
          <a:ln w="6350">
            <a:solidFill>
              <a:srgbClr val="C7C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23-teacher-grad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5074920"/>
            <a:ext cx="2194560" cy="1463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78240" y="4937760"/>
            <a:ext cx="2697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i="0" b="1">
                <a:solidFill>
                  <a:srgbClr val="0B0B0F"/>
                </a:solidFill>
                <a:latin typeface="Inter"/>
              </a:rPr>
              <a:t>Grades &amp; Reports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5349240"/>
            <a:ext cx="36576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5577840"/>
            <a:ext cx="2697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0">
                <a:solidFill>
                  <a:srgbClr val="5B5B66"/>
                </a:solidFill>
                <a:latin typeface="Inter"/>
              </a:rPr>
              <a:t>Per-module tracking · 15-week attendance Excel export · Auto-notify students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i="1" b="0">
                <a:solidFill>
                  <a:srgbClr val="5B5B66"/>
                </a:solidFill>
                <a:latin typeface="Inter"/>
              </a:rPr>
              <a:t>Plus: announcements, real-time notifications, calendar integration, role-based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05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PRODUCTION · 05</a:t>
            </a:r>
          </a:p>
        </p:txBody>
      </p:sp>
      <p:pic>
        <p:nvPicPr>
          <p:cNvPr id="6" name="Picture 5" descr="30-admi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495" y="1554480"/>
            <a:ext cx="694944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097280"/>
            <a:ext cx="42976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i="0" b="1">
                <a:solidFill>
                  <a:srgbClr val="0B0B0F"/>
                </a:solidFill>
                <a:latin typeface="Source Serif Pro"/>
              </a:rPr>
              <a:t>In production at ENSIA
since February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4864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057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i="0" b="1">
                <a:solidFill>
                  <a:srgbClr val="0B0B0F"/>
                </a:solidFill>
                <a:latin typeface="Inter"/>
              </a:rPr>
              <a:t>1,480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2057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0">
                <a:solidFill>
                  <a:srgbClr val="5B5B66"/>
                </a:solidFill>
                <a:latin typeface="Inter"/>
              </a:rPr>
              <a:t>attendance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43200"/>
            <a:ext cx="2057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i="0" b="1">
                <a:solidFill>
                  <a:srgbClr val="0B0B0F"/>
                </a:solidFill>
                <a:latin typeface="Inter"/>
              </a:rPr>
              <a:t>208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2057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0">
                <a:solidFill>
                  <a:srgbClr val="5B5B66"/>
                </a:solidFill>
                <a:latin typeface="Inter"/>
              </a:rPr>
              <a:t>distinct 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2057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i="0" b="1">
                <a:solidFill>
                  <a:srgbClr val="0B0B0F"/>
                </a:solidFill>
                <a:latin typeface="Inter"/>
              </a:rPr>
              <a:t>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2057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0">
                <a:solidFill>
                  <a:srgbClr val="5B5B66"/>
                </a:solidFill>
                <a:latin typeface="Inter"/>
              </a:rPr>
              <a:t>in 1 live quiz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160520"/>
            <a:ext cx="2057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i="0" b="1">
                <a:solidFill>
                  <a:srgbClr val="0B0B0F"/>
                </a:solidFill>
                <a:latin typeface="Inter"/>
              </a:rPr>
              <a:t>14,677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846320"/>
            <a:ext cx="2057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0">
                <a:solidFill>
                  <a:srgbClr val="5B5B66"/>
                </a:solidFill>
                <a:latin typeface="Inter"/>
              </a:rPr>
              <a:t>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4297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5B5B66"/>
                </a:solidFill>
                <a:latin typeface="Inter"/>
              </a:rPr>
              <a:t>31 sessions  ·  510 device fingerprints  ·  18 justifications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4297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1" b="0">
                <a:solidFill>
                  <a:srgbClr val="0B0B0F"/>
                </a:solidFill>
                <a:latin typeface="Inter"/>
              </a:rPr>
              <a:t>Pilot module: Machine Learning, 3rd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06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TECH ·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i="0" b="1">
                <a:solidFill>
                  <a:srgbClr val="0B0B0F"/>
                </a:solidFill>
                <a:latin typeface="Source Serif Pro"/>
              </a:rPr>
              <a:t>Built for production.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i="0" b="1">
                <a:solidFill>
                  <a:srgbClr val="E26412"/>
                </a:solidFill>
                <a:latin typeface="Inter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377440"/>
            <a:ext cx="6400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Next.js 16  ·  React 19  ·  TypeScript  ·  Tailwind CSS  ·  Real-time WebSockets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i="0" b="1">
                <a:solidFill>
                  <a:srgbClr val="E26412"/>
                </a:solidFill>
                <a:latin typeface="Inter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971800"/>
            <a:ext cx="6400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FastAPI  ·  Async SQLAlchemy  ·  PostgreSQL  ·  Redis  ·  APScheduler  ·  Azure Blob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i="0" b="1">
                <a:solidFill>
                  <a:srgbClr val="E26412"/>
                </a:solidFill>
                <a:latin typeface="Inter"/>
              </a:rPr>
              <a:t>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566160"/>
            <a:ext cx="6400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Live attendance dashboard, live quiz leaderboards, push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i="0" b="1">
                <a:solidFill>
                  <a:srgbClr val="E26412"/>
                </a:solidFill>
                <a:latin typeface="Inter"/>
              </a:rPr>
              <a:t>Offline-first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160520"/>
            <a:ext cx="6400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IndexedDB attendance cache  +  batch sync (handles classroom WiFi failures)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1" b="0">
                <a:solidFill>
                  <a:srgbClr val="5B5B66"/>
                </a:solidFill>
                <a:latin typeface="Inter"/>
              </a:rPr>
              <a:t>Production-grade: structured logging, async-first, role-based authorization, anti-cheat device fingerprinting.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07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DEFENSIBILITY ·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i="0" b="1">
                <a:solidFill>
                  <a:srgbClr val="0B0B0F"/>
                </a:solidFill>
                <a:latin typeface="Source Serif Pro"/>
              </a:rPr>
              <a:t>Algerian law made local hosting non-negotiable.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73152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11094415" cy="914400"/>
          </a:xfrm>
          <a:prstGeom prst="rect">
            <a:avLst/>
          </a:prstGeom>
          <a:solidFill>
            <a:srgbClr val="FFFDF8"/>
          </a:solidFill>
          <a:ln w="6350">
            <a:solidFill>
              <a:srgbClr val="C7C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2103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i="0" b="1">
                <a:solidFill>
                  <a:srgbClr val="0B0B0F"/>
                </a:solidFill>
                <a:latin typeface="Inter"/>
              </a:rPr>
              <a:t>Loi 18-07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87752"/>
            <a:ext cx="1463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1" b="0">
                <a:solidFill>
                  <a:srgbClr val="E26412"/>
                </a:solidFill>
                <a:latin typeface="Inter"/>
              </a:rPr>
              <a:t>June 2018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5B5B66"/>
                </a:solidFill>
                <a:latin typeface="Inter"/>
              </a:rPr>
              <a:t>Personal data protection. Cross-border transfer requires ANPDP authorization. Penalties up to 5 years imprisonment.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11094415" cy="914400"/>
          </a:xfrm>
          <a:prstGeom prst="rect">
            <a:avLst/>
          </a:prstGeom>
          <a:solidFill>
            <a:srgbClr val="FFFDF8"/>
          </a:solidFill>
          <a:ln w="6350">
            <a:solidFill>
              <a:srgbClr val="C7C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93592"/>
            <a:ext cx="2103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i="0" b="1">
                <a:solidFill>
                  <a:srgbClr val="0B0B0F"/>
                </a:solidFill>
                <a:latin typeface="Inter"/>
              </a:rPr>
              <a:t>Law 22-39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593592"/>
            <a:ext cx="1463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1" b="0">
                <a:solidFill>
                  <a:srgbClr val="E26412"/>
                </a:solidFill>
                <a:latin typeface="Inter"/>
              </a:rPr>
              <a:t>January 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5B5B66"/>
                </a:solidFill>
                <a:latin typeface="Inter"/>
              </a:rPr>
              <a:t>Public cloud providers must host on Algerian territory under ARPCE authorization.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11094415" cy="914400"/>
          </a:xfrm>
          <a:prstGeom prst="rect">
            <a:avLst/>
          </a:prstGeom>
          <a:solidFill>
            <a:srgbClr val="FFFDF8"/>
          </a:solidFill>
          <a:ln w="6350">
            <a:solidFill>
              <a:srgbClr val="C7C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99432"/>
            <a:ext cx="2103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i="0" b="1">
                <a:solidFill>
                  <a:srgbClr val="0B0B0F"/>
                </a:solidFill>
                <a:latin typeface="Inter"/>
              </a:rPr>
              <a:t>ANPDP 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599432"/>
            <a:ext cx="14630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1" b="0">
                <a:solidFill>
                  <a:srgbClr val="E26412"/>
                </a:solidFill>
                <a:latin typeface="Inter"/>
              </a:rPr>
              <a:t>August 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5B5B66"/>
                </a:solidFill>
                <a:latin typeface="Inter"/>
              </a:rPr>
              <a:t>Law 11-25 (July 2025) tightens requirements further — mandatory DPO, processing records, DPIA.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i="0" b="0">
                <a:solidFill>
                  <a:srgbClr val="5B5B66"/>
                </a:solidFill>
                <a:latin typeface="Inter"/>
              </a:rPr>
              <a:t>Foreign LMS — Google Classroom · Microsoft Teams · Canvas · Schoology — all process Algerian student data outside Algerian jurisdiction.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i="1" b="1">
                <a:solidFill>
                  <a:srgbClr val="E26412"/>
                </a:solidFill>
                <a:latin typeface="Inter"/>
              </a:rPr>
              <a:t>Lectu is the only platform built compliant by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08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SOVEREIGNTY ·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i="0" b="1">
                <a:solidFill>
                  <a:srgbClr val="0B0B0F"/>
                </a:solidFill>
                <a:latin typeface="Source Serif Pro"/>
              </a:rPr>
              <a:t>Today: Microsoft Azure (Europe)
Tomorrow: Algerian-hosted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73152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440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1">
                <a:solidFill>
                  <a:srgbClr val="5B5B66"/>
                </a:solidFill>
                <a:latin typeface="Inter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54406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Lectu currently runs on Microsoft Azure (European region) for development velocity. ENSIA's on-campus datacenter is currently saturated, so on-campus hosting wasn't available for the soft launch.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440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1">
                <a:solidFill>
                  <a:srgbClr val="E26412"/>
                </a:solidFill>
                <a:latin typeface="Inter"/>
              </a:rPr>
              <a:t>TOMORROW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46120"/>
            <a:ext cx="54406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FastAPI + Postgres + Redis is portable by design. Migration to Algerian-hosted infrastructure is a one-week deployment, gated only on capacity availability.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12080"/>
            <a:ext cx="11094415" cy="1280160"/>
          </a:xfrm>
          <a:prstGeom prst="rect">
            <a:avLst/>
          </a:prstGeom>
          <a:solidFill>
            <a:srgbClr val="FFFDF8"/>
          </a:solidFill>
          <a:ln w="19050">
            <a:solidFill>
              <a:srgbClr val="E26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54577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1">
                <a:solidFill>
                  <a:srgbClr val="E26412"/>
                </a:solidFill>
                <a:latin typeface="Inter"/>
              </a:rPr>
              <a:t>WHAT WE'RE ASKING FROM ENSIA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4577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i="0" b="0">
                <a:solidFill>
                  <a:srgbClr val="0B0B0F"/>
                </a:solidFill>
                <a:latin typeface="Inter"/>
              </a:rPr>
              <a:t>Help us secure on-campus hosting capacity, OR an introduction to an Algerian hosting partner (Algérie Telecom Cloud, ICOSnet, AventureCloudz). The technical migration is ready — what we need is the institutional resource.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09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MARKET ·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i="0" b="1">
                <a:solidFill>
                  <a:srgbClr val="0B0B0F"/>
                </a:solidFill>
                <a:latin typeface="Source Serif Pro"/>
              </a:rPr>
              <a:t>The Algerian higher-education market.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286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i="0" b="1">
                <a:solidFill>
                  <a:srgbClr val="E26412"/>
                </a:solidFill>
                <a:latin typeface="Inter"/>
              </a:rPr>
              <a:t>114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96312"/>
            <a:ext cx="8046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universities + colleges nationally (~1.54M students)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286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i="0" b="1">
                <a:solidFill>
                  <a:srgbClr val="E26412"/>
                </a:solidFill>
                <a:latin typeface="Inter"/>
              </a:rPr>
              <a:t>381,428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090672"/>
            <a:ext cx="8046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new bac entrants in 2024 — 97.84% admission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2286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i="0" b="1">
                <a:solidFill>
                  <a:srgbClr val="E26412"/>
                </a:solidFill>
                <a:latin typeface="Inter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685032"/>
            <a:ext cx="8046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private HEIs + autonomous-budget grandes écoles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00" cy="1554480"/>
          </a:xfrm>
          <a:prstGeom prst="rect">
            <a:avLst/>
          </a:prstGeom>
          <a:solidFill>
            <a:srgbClr val="FFFDF8"/>
          </a:solidFill>
          <a:ln w="12700">
            <a:solidFill>
              <a:srgbClr val="E26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4937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1">
                <a:solidFill>
                  <a:srgbClr val="E26412"/>
                </a:solidFill>
                <a:latin typeface="Inter"/>
              </a:rPr>
              <a:t>BOTTOM-UP MARKET MATH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493776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0B0B0F"/>
                </a:solidFill>
                <a:latin typeface="Inter"/>
              </a:rPr>
              <a:t>1.54M students × ~600 DZD avg = ~900M DZD/yr addressable.</a:t>
            </a:r>
          </a:p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0B0B0F"/>
                </a:solidFill>
                <a:latin typeface="Inter"/>
              </a:rPr>
              <a:t>Sidi Abdellah pole alone = ~20,000 students = up to 12M DZD ARR at full pole adoption.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34840"/>
            <a:ext cx="5029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1">
                <a:solidFill>
                  <a:srgbClr val="E26412"/>
                </a:solidFill>
                <a:latin typeface="Inter"/>
              </a:rPr>
              <a:t>SIDI ABDELLAH POLE — OUR BEACHHEAD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54880"/>
            <a:ext cx="50292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i="0" b="0">
                <a:solidFill>
                  <a:srgbClr val="0B0B0F"/>
                </a:solidFill>
                <a:latin typeface="Inter"/>
              </a:rPr>
              <a:t>ENSIA  ~2,000 students  (us, 10% utilization)</a:t>
            </a:r>
          </a:p>
          <a:p>
            <a:pPr algn="l">
              <a:spcAft>
                <a:spcPts val="600"/>
              </a:spcAft>
            </a:pPr>
            <a:r>
              <a:rPr sz="1050" i="0" b="0">
                <a:solidFill>
                  <a:srgbClr val="0B0B0F"/>
                </a:solidFill>
                <a:latin typeface="Inter"/>
              </a:rPr>
              <a:t>NHSM (mathematics)  TBD</a:t>
            </a:r>
          </a:p>
          <a:p>
            <a:pPr algn="l">
              <a:spcAft>
                <a:spcPts val="600"/>
              </a:spcAft>
            </a:pPr>
            <a:r>
              <a:rPr sz="1050" i="0" b="0">
                <a:solidFill>
                  <a:srgbClr val="0B0B0F"/>
                </a:solidFill>
                <a:latin typeface="Inter"/>
              </a:rPr>
              <a:t>ESI Algiers (Oued Smar)  ~1,340</a:t>
            </a:r>
          </a:p>
          <a:p>
            <a:pPr algn="l">
              <a:spcAft>
                <a:spcPts val="600"/>
              </a:spcAft>
            </a:pPr>
            <a:r>
              <a:rPr sz="1050" i="0" b="0">
                <a:solidFill>
                  <a:srgbClr val="0B0B0F"/>
                </a:solidFill>
                <a:latin typeface="Inter"/>
              </a:rPr>
              <a:t>Pole expansion: 6+ grandes écoles by 2028</a:t>
            </a:r>
          </a:p>
          <a:p>
            <a:pPr algn="l">
              <a:spcAft>
                <a:spcPts val="600"/>
              </a:spcAft>
            </a:pPr>
            <a:r>
              <a:rPr sz="1050" i="0" b="0">
                <a:solidFill>
                  <a:srgbClr val="0B0B0F"/>
                </a:solidFill>
                <a:latin typeface="Inter"/>
              </a:rPr>
              <a:t>Designed for ~20,000 students total</a:t>
            </a:r>
          </a:p>
          <a:p>
            <a:pPr algn="l">
              <a:spcAft>
                <a:spcPts val="600"/>
              </a:spcAft>
            </a:pPr>
            <a:r>
              <a:rPr sz="1050" i="0" b="0">
                <a:solidFill>
                  <a:srgbClr val="0B0B0F"/>
                </a:solidFill>
                <a:latin typeface="Inter"/>
              </a:rPr>
              <a:t>85% smartphone penetration among DZ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i="1" b="0">
                <a:solidFill>
                  <a:srgbClr val="0B0B0F"/>
                </a:solidFill>
                <a:latin typeface="Inter"/>
              </a:rPr>
              <a:t>We start with the cohort that already knows 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10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COMPETITION 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i="0" b="1">
                <a:solidFill>
                  <a:srgbClr val="0B0B0F"/>
                </a:solidFill>
                <a:latin typeface="Source Serif Pro"/>
              </a:rPr>
              <a:t>What else is out there?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21031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i="0" b="1">
                <a:solidFill>
                  <a:srgbClr val="E26412"/>
                </a:solidFill>
                <a:latin typeface="Inter"/>
              </a:rPr>
              <a:t>COMPETITOR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40280"/>
            <a:ext cx="1828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i="0" b="1">
                <a:solidFill>
                  <a:srgbClr val="E26412"/>
                </a:solidFill>
                <a:latin typeface="Inter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40280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i="0" b="1">
                <a:solidFill>
                  <a:srgbClr val="E26412"/>
                </a:solidFill>
                <a:latin typeface="Inter"/>
              </a:rPr>
              <a:t>WHAT IT DOESN'T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21031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i="0" b="1">
                <a:solidFill>
                  <a:srgbClr val="E26412"/>
                </a:solidFill>
                <a:latin typeface="Inter"/>
              </a:rPr>
              <a:t>PRICING (~2,000 STUDENTS)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240280"/>
            <a:ext cx="2834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i="0" b="1">
                <a:solidFill>
                  <a:srgbClr val="E26412"/>
                </a:solidFill>
                <a:latin typeface="Inter"/>
              </a:rPr>
              <a:t>LECTU WINS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103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Progres / WebEtu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06040"/>
            <a:ext cx="1828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Enrollment, transcripts, grades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2194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No live attendance, no in-class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40"/>
            <a:ext cx="2103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Free (centrally funded)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606040"/>
            <a:ext cx="283464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Live in-class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11094415" cy="6350"/>
          </a:xfrm>
          <a:prstGeom prst="rect">
            <a:avLst/>
          </a:prstGeom>
          <a:solidFill>
            <a:srgbClr val="C7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64408"/>
            <a:ext cx="2103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Moodle (UMBB, USTHB, M'sila)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264408"/>
            <a:ext cx="1828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Course 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264408"/>
            <a:ext cx="2194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Documented unused for 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64408"/>
            <a:ext cx="2103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Free + IT staff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264408"/>
            <a:ext cx="283464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Actual classroom usage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58768"/>
            <a:ext cx="11094415" cy="6350"/>
          </a:xfrm>
          <a:prstGeom prst="rect">
            <a:avLst/>
          </a:prstGeom>
          <a:solidFill>
            <a:srgbClr val="C7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22776"/>
            <a:ext cx="2103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Google Classroom · Teams · Canvas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922776"/>
            <a:ext cx="1828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International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922776"/>
            <a:ext cx="2194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Not Loi 18-07 compliant; USD-billed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922776"/>
            <a:ext cx="2103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$60–250k / yr (~8–33M DZD)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922776"/>
            <a:ext cx="283464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Loi 18-07 + DZD pricing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17136"/>
            <a:ext cx="11094415" cy="6350"/>
          </a:xfrm>
          <a:prstGeom prst="rect">
            <a:avLst/>
          </a:prstGeom>
          <a:solidFill>
            <a:srgbClr val="C7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81144"/>
            <a:ext cx="2103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Kahoot · Wooclap · Mentimeter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581144"/>
            <a:ext cx="1828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Live quizzes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581144"/>
            <a:ext cx="2194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Per-teacher, no attendance, no DZD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581144"/>
            <a:ext cx="21031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~$30k / yr at institution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581144"/>
            <a:ext cx="283464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All-in-one platform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75504"/>
            <a:ext cx="11094415" cy="6350"/>
          </a:xfrm>
          <a:prstGeom prst="rect">
            <a:avLst/>
          </a:prstGeom>
          <a:solidFill>
            <a:srgbClr val="C7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solidFill>
            <a:srgbClr val="FFFDF8"/>
          </a:solidFill>
          <a:ln w="12700">
            <a:solidFill>
              <a:srgbClr val="E26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468112"/>
            <a:ext cx="1054577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1" b="0">
                <a:solidFill>
                  <a:srgbClr val="0B0B0F"/>
                </a:solidFill>
                <a:latin typeface="Inter"/>
              </a:rPr>
              <a:t>"This service is horrible, it never works, and when it does work, it shows grades for a certain time then stops working." — Apple App Store review of Progres, 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i="1" b="0">
                <a:solidFill>
                  <a:srgbClr val="0B0B0F"/>
                </a:solidFill>
                <a:latin typeface="Inter"/>
              </a:rPr>
              <a:t>Lectu = 1,000,000 DZD / year. 10–30× cheaper than enterprise LMS, and the only DZ-native product that covers attendance + quizzes + grades + LMS.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11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PRICING ·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i="0" b="1">
                <a:solidFill>
                  <a:srgbClr val="0B0B0F"/>
                </a:solidFill>
                <a:latin typeface="Source Serif Pro"/>
              </a:rPr>
              <a:t>Per-school annual flat license.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5349240" cy="3291840"/>
          </a:xfrm>
          <a:prstGeom prst="rect">
            <a:avLst/>
          </a:prstGeom>
          <a:solidFill>
            <a:srgbClr val="FFFDF8"/>
          </a:solidFill>
          <a:ln w="25400">
            <a:solidFill>
              <a:srgbClr val="E26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53492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i="0" b="1">
                <a:solidFill>
                  <a:srgbClr val="E26412"/>
                </a:solidFill>
                <a:latin typeface="Inter"/>
              </a:rPr>
              <a:t>GRANDES ÉCOLES &amp; SMALL UNIVERSITIES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5349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i="0" b="1">
                <a:solidFill>
                  <a:srgbClr val="0B0B0F"/>
                </a:solidFill>
                <a:latin typeface="Inter"/>
              </a:rPr>
              <a:t>1,000,000 DZD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5349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i="1" b="0">
                <a:solidFill>
                  <a:srgbClr val="5B5B66"/>
                </a:solidFill>
                <a:latin typeface="Inter"/>
              </a:rPr>
              <a:t>per year · all-inclusive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5349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&lt; 2,000 students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468880"/>
            <a:ext cx="5349240" cy="3291840"/>
          </a:xfrm>
          <a:prstGeom prst="rect">
            <a:avLst/>
          </a:prstGeom>
          <a:solidFill>
            <a:srgbClr val="FFFDF8"/>
          </a:solidFill>
          <a:ln w="12700">
            <a:solidFill>
              <a:srgbClr val="C7C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834640"/>
            <a:ext cx="53492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i="0" b="1">
                <a:solidFill>
                  <a:srgbClr val="5B5B66"/>
                </a:solidFill>
                <a:latin typeface="Inter"/>
              </a:rPr>
              <a:t>LARGER UNIVERSITIES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5349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i="0" b="1">
                <a:solidFill>
                  <a:srgbClr val="0B0B0F"/>
                </a:solidFill>
                <a:latin typeface="Inter"/>
              </a:rPr>
              <a:t>Custom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297680"/>
            <a:ext cx="5349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i="1" b="0">
                <a:solidFill>
                  <a:srgbClr val="5B5B66"/>
                </a:solidFill>
                <a:latin typeface="Inter"/>
              </a:rPr>
              <a:t>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754880"/>
            <a:ext cx="5349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&gt; 2,000 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i="0" b="0">
                <a:solidFill>
                  <a:srgbClr val="0B0B0F"/>
                </a:solidFill>
                <a:latin typeface="Inter"/>
              </a:rPr>
              <a:t>All features  ·  Unlimited users  ·  Hosted in Algeria  ·  Fr / Ar localization  ·  Onboarding +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i="1" b="0">
                <a:solidFill>
                  <a:srgbClr val="5B5B66"/>
                </a:solidFill>
                <a:latin typeface="Inter"/>
              </a:rPr>
              <a:t>No per-seat fees. No per-feature gating. Annual budget cycle aligned.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12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ROADMAP · 12</a:t>
            </a:r>
          </a:p>
        </p:txBody>
      </p:sp>
      <p:pic>
        <p:nvPicPr>
          <p:cNvPr id="6" name="Picture 5" descr="31-admin-timetable-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55" y="3108960"/>
            <a:ext cx="42976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097280"/>
            <a:ext cx="73152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i="0" b="1">
                <a:solidFill>
                  <a:srgbClr val="0B0B0F"/>
                </a:solidFill>
                <a:latin typeface="Source Serif Pro"/>
              </a:rPr>
              <a:t>Two-year horizon.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i="0" b="1">
                <a:solidFill>
                  <a:srgbClr val="E26412"/>
                </a:solidFill>
                <a:latin typeface="Inter"/>
              </a:rPr>
              <a:t>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1" b="0">
                <a:solidFill>
                  <a:srgbClr val="5B5B66"/>
                </a:solidFill>
                <a:latin typeface="Inter"/>
              </a:rPr>
              <a:t>Now → Sept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68880"/>
            <a:ext cx="42062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i="0" b="0">
                <a:solidFill>
                  <a:srgbClr val="0B0B0F"/>
                </a:solidFill>
                <a:latin typeface="Inter"/>
              </a:rPr>
              <a:t>Activate all 7 ENSIA modules. Pull all 67 teachers into active use. Migrate to Algerian hosting.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i="0" b="1">
                <a:solidFill>
                  <a:srgbClr val="E26412"/>
                </a:solidFill>
                <a:latin typeface="Inter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1" b="0">
                <a:solidFill>
                  <a:srgbClr val="5B5B66"/>
                </a:solidFill>
                <a:latin typeface="Inter"/>
              </a:rPr>
              <a:t>Sept 2026 → Sept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429000"/>
            <a:ext cx="42062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i="0" b="0">
                <a:solidFill>
                  <a:srgbClr val="0B0B0F"/>
                </a:solidFill>
                <a:latin typeface="Inter"/>
              </a:rPr>
              <a:t>Sidi Abdellah pole expansion. Target: 3 schools live (ENSIA + 2 pole partners).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14630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i="0" b="1">
                <a:solidFill>
                  <a:srgbClr val="E26412"/>
                </a:solidFill>
                <a:latin typeface="Inter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1" b="0">
                <a:solidFill>
                  <a:srgbClr val="5B5B66"/>
                </a:solidFill>
                <a:latin typeface="Inter"/>
              </a:rPr>
              <a:t>Sept 2027 → Sept 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389120"/>
            <a:ext cx="42062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i="0" b="0">
                <a:solidFill>
                  <a:srgbClr val="0B0B0F"/>
                </a:solidFill>
                <a:latin typeface="Inter"/>
              </a:rPr>
              <a:t>Other DZ grandes écoles (Polytechnique, ESAA) + select public universities.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i="1" b="0">
                <a:solidFill>
                  <a:srgbClr val="5B5B66"/>
                </a:solidFill>
                <a:latin typeface="Inter"/>
              </a:rPr>
              <a:t>International expansion is explicitly out of scope for 24 months.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13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LOOKING AHEAD 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i="0" b="1">
                <a:solidFill>
                  <a:srgbClr val="0B0B0F"/>
                </a:solidFill>
                <a:latin typeface="Source Serif Pro"/>
              </a:rPr>
              <a:t>Looking ahead — two horizons.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11094415" cy="1554480"/>
          </a:xfrm>
          <a:prstGeom prst="rect">
            <a:avLst/>
          </a:prstGeom>
          <a:solidFill>
            <a:srgbClr val="FFFDF8"/>
          </a:solidFill>
          <a:ln w="6350">
            <a:solidFill>
              <a:srgbClr val="C7C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6858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1">
                <a:solidFill>
                  <a:srgbClr val="0B0B0F"/>
                </a:solidFill>
                <a:latin typeface="Inter"/>
              </a:rPr>
              <a:t>NATIVE MOBILE APPS (iOS + Android)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51760"/>
            <a:ext cx="3657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i="1" b="0">
                <a:solidFill>
                  <a:srgbClr val="E26412"/>
                </a:solidFill>
                <a:latin typeface="Inter"/>
              </a:rPr>
              <a:t>2026–27 academic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10545775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5B5B66"/>
                </a:solidFill>
                <a:latin typeface="Inter"/>
              </a:rPr>
              <a:t>A native mobile app on both platforms — primary goal: limit cheating attempts in lecture attendance. Hardware-bound device IDs, real-time push, offline-first check-in.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11094415" cy="2194560"/>
          </a:xfrm>
          <a:prstGeom prst="rect">
            <a:avLst/>
          </a:prstGeom>
          <a:solidFill>
            <a:srgbClr val="FFFDF8"/>
          </a:solidFill>
          <a:ln w="19050">
            <a:solidFill>
              <a:srgbClr val="E26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6858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1">
                <a:solidFill>
                  <a:srgbClr val="0B0B0F"/>
                </a:solidFill>
                <a:latin typeface="Inter"/>
              </a:rPr>
              <a:t>AI &amp; THE FUTURE OF HIGHER EDUCATION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389120"/>
            <a:ext cx="3657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i="1" b="0">
                <a:solidFill>
                  <a:srgbClr val="E26412"/>
                </a:solidFill>
                <a:latin typeface="Inter"/>
              </a:rPr>
              <a:t>Research-driven · Ongoing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0B0B0F"/>
                </a:solidFill>
                <a:latin typeface="Inter"/>
              </a:rPr>
              <a:t>The AI wave is reshaping how students do assignments, how teachers grade, and how universities measure learning. Three open questions: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036289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5B5B66"/>
                </a:solidFill>
                <a:latin typeface="Inter"/>
              </a:rPr>
              <a:t>• How do you grade an assignment when ChatGPT writes a credible draft?</a:t>
            </a:r>
          </a:p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5B5B66"/>
                </a:solidFill>
                <a:latin typeface="Inter"/>
              </a:rPr>
              <a:t>• How do you redesign coursework for AI-native students?</a:t>
            </a:r>
          </a:p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5B5B66"/>
                </a:solidFill>
                <a:latin typeface="Inter"/>
              </a:rPr>
              <a:t>• How do you keep human judgment central without ignoring the tools?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1" b="0">
                <a:solidFill>
                  <a:srgbClr val="E26412"/>
                </a:solidFill>
                <a:latin typeface="Inter"/>
              </a:rPr>
              <a:t>Lectu wants to be the research partner ENSIA uses to figure this out.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14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WHAT WE NEED 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i="0" b="1">
                <a:solidFill>
                  <a:srgbClr val="0B0B0F"/>
                </a:solidFill>
                <a:latin typeface="Source Serif Pro"/>
              </a:rPr>
              <a:t>What we need from ENSIA.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i="0" b="1">
                <a:solidFill>
                  <a:srgbClr val="E26412"/>
                </a:solidFill>
                <a:latin typeface="Inter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72694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Continuation in the incubator — keep the slot, lab access, mentorship through end of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82112"/>
            <a:ext cx="457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i="0" b="1">
                <a:solidFill>
                  <a:srgbClr val="E26412"/>
                </a:solidFill>
                <a:latin typeface="Inter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27832"/>
            <a:ext cx="72694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Formal ENSIA pilot agreement — official deployment for the 2026–27 academic year, multi-department rollout.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i="0" b="1">
                <a:solidFill>
                  <a:srgbClr val="E26412"/>
                </a:solidFill>
                <a:latin typeface="Inter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41064"/>
            <a:ext cx="72694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On-campus hosting capacity — Phase 1 migration to ENSIA datacenter, OR introduction to an Algerian hosting partner.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08576"/>
            <a:ext cx="457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i="0" b="1">
                <a:solidFill>
                  <a:srgbClr val="E26412"/>
                </a:solidFill>
                <a:latin typeface="Inter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54296"/>
            <a:ext cx="72694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Pole introductions — warm intros to NHSM, ESI Algiers, and other Sidi Abdellah grandes écoles.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21808"/>
            <a:ext cx="457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i="0" b="1">
                <a:solidFill>
                  <a:srgbClr val="E26412"/>
                </a:solidFill>
                <a:latin typeface="Inter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367528"/>
            <a:ext cx="72694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 b="0">
                <a:solidFill>
                  <a:srgbClr val="0B0B0F"/>
                </a:solidFill>
                <a:latin typeface="Inter"/>
              </a:rPr>
              <a:t>Design + marketing recruiting — help connect us with ENSIA students for the open team roles.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2468880"/>
            <a:ext cx="3108960" cy="3657600"/>
          </a:xfrm>
          <a:prstGeom prst="rect">
            <a:avLst/>
          </a:prstGeom>
          <a:solidFill>
            <a:srgbClr val="FFFDF8"/>
          </a:solidFill>
          <a:ln w="6350">
            <a:solidFill>
              <a:srgbClr val="C7C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2697480"/>
            <a:ext cx="2651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i="0" b="1">
                <a:solidFill>
                  <a:srgbClr val="E26412"/>
                </a:solidFill>
                <a:latin typeface="Inter"/>
              </a:rPr>
              <a:t>WHAT'S BLOCKING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108960"/>
            <a:ext cx="26517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0B0B0F"/>
                </a:solidFill>
                <a:latin typeface="Inter"/>
              </a:rPr>
              <a:t>· Hosting depends on capacity</a:t>
            </a:r>
          </a:p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0B0B0F"/>
                </a:solidFill>
                <a:latin typeface="Inter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0B0B0F"/>
                </a:solidFill>
                <a:latin typeface="Inter"/>
              </a:rPr>
              <a:t>· Multi-teacher activation slow without endorsement</a:t>
            </a:r>
          </a:p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0B0B0F"/>
                </a:solidFill>
                <a:latin typeface="Inter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0B0B0F"/>
                </a:solidFill>
                <a:latin typeface="Inter"/>
              </a:rPr>
              <a:t>· No formal pilot agreement yet</a:t>
            </a:r>
          </a:p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0B0B0F"/>
                </a:solidFill>
                <a:latin typeface="Inter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00" i="0" b="0">
                <a:solidFill>
                  <a:srgbClr val="0B0B0F"/>
                </a:solidFill>
                <a:latin typeface="Inter"/>
              </a:rPr>
              <a:t>· No design or marketing capacity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20040"/>
            <a:ext cx="868680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B5B66"/>
                </a:solidFill>
                <a:latin typeface="Inter"/>
              </a:rPr>
              <a:t>15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6412"/>
                </a:solidFill>
                <a:latin typeface="Inter"/>
              </a:rPr>
              <a:t>THE TEAM ·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200" i="0" b="1">
                <a:solidFill>
                  <a:srgbClr val="0B0B0F"/>
                </a:solidFill>
                <a:latin typeface="Source Serif Pro"/>
              </a:rPr>
              <a:t>Meet the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30087" y="1874519"/>
            <a:ext cx="73152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867" y="2377440"/>
            <a:ext cx="3520440" cy="2377440"/>
          </a:xfrm>
          <a:prstGeom prst="rect">
            <a:avLst/>
          </a:prstGeom>
          <a:solidFill>
            <a:srgbClr val="C7C2B6"/>
          </a:solidFill>
          <a:ln w="6350">
            <a:solidFill>
              <a:srgbClr val="5B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867" y="3429000"/>
            <a:ext cx="3520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i="1" b="0">
                <a:solidFill>
                  <a:srgbClr val="5B5B66"/>
                </a:solidFill>
                <a:latin typeface="Inter"/>
              </a:rPr>
              <a:t>[ Founder Photo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867" y="4892040"/>
            <a:ext cx="3520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i="0" b="1">
                <a:solidFill>
                  <a:srgbClr val="0B0B0F"/>
                </a:solidFill>
                <a:latin typeface="Inter"/>
              </a:rPr>
              <a:t>[Founder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67" y="5257800"/>
            <a:ext cx="3520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i="1" b="0">
                <a:solidFill>
                  <a:srgbClr val="E26412"/>
                </a:solidFill>
                <a:latin typeface="Inter"/>
              </a:rPr>
              <a:t>Founder &amp; Full-Stack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67" y="5532120"/>
            <a:ext cx="3520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i="0" b="0">
                <a:solidFill>
                  <a:srgbClr val="5B5B66"/>
                </a:solidFill>
                <a:latin typeface="Inter"/>
              </a:rPr>
              <a:t>3rd-year ENSIA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747" y="5852160"/>
            <a:ext cx="3154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Backend (FastAPI · Postgres · Redis) + frontend (Next.js · Tailwind) + product.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5627" y="2377440"/>
            <a:ext cx="3520440" cy="2377440"/>
          </a:xfrm>
          <a:prstGeom prst="rect">
            <a:avLst/>
          </a:prstGeom>
          <a:solidFill>
            <a:srgbClr val="C7C2B6"/>
          </a:solidFill>
          <a:ln w="6350">
            <a:solidFill>
              <a:srgbClr val="5B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5627" y="3429000"/>
            <a:ext cx="3520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i="1" b="0">
                <a:solidFill>
                  <a:srgbClr val="5B5B66"/>
                </a:solidFill>
                <a:latin typeface="Inter"/>
              </a:rPr>
              <a:t>[ Founder Photo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5627" y="4892040"/>
            <a:ext cx="3520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i="0" b="1">
                <a:solidFill>
                  <a:srgbClr val="0B0B0F"/>
                </a:solidFill>
                <a:latin typeface="Inter"/>
              </a:rPr>
              <a:t>[Founder 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5627" y="5257800"/>
            <a:ext cx="3520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i="1" b="0">
                <a:solidFill>
                  <a:srgbClr val="E26412"/>
                </a:solidFill>
                <a:latin typeface="Inter"/>
              </a:rPr>
              <a:t>Backend &amp;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5627" y="5532120"/>
            <a:ext cx="3520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i="0" b="0">
                <a:solidFill>
                  <a:srgbClr val="5B5B66"/>
                </a:solidFill>
                <a:latin typeface="Inter"/>
              </a:rPr>
              <a:t>3rd-year ENSIA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8507" y="5852160"/>
            <a:ext cx="3154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Async SQLAlchemy · WebSocket real-time · Alembic migrations.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0387" y="2377440"/>
            <a:ext cx="3520440" cy="2377440"/>
          </a:xfrm>
          <a:prstGeom prst="rect">
            <a:avLst/>
          </a:prstGeom>
          <a:solidFill>
            <a:srgbClr val="C7C2B6"/>
          </a:solidFill>
          <a:ln w="6350">
            <a:solidFill>
              <a:srgbClr val="5B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0387" y="3429000"/>
            <a:ext cx="3520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i="1" b="0">
                <a:solidFill>
                  <a:srgbClr val="5B5B66"/>
                </a:solidFill>
                <a:latin typeface="Inter"/>
              </a:rPr>
              <a:t>[ Founder Photo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0387" y="4892040"/>
            <a:ext cx="3520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i="0" b="1">
                <a:solidFill>
                  <a:srgbClr val="0B0B0F"/>
                </a:solidFill>
                <a:latin typeface="Inter"/>
              </a:rPr>
              <a:t>[Founder 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0387" y="5257800"/>
            <a:ext cx="3520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i="1" b="0">
                <a:solidFill>
                  <a:srgbClr val="E26412"/>
                </a:solidFill>
                <a:latin typeface="Inter"/>
              </a:rPr>
              <a:t>Frontend &amp;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0387" y="5532120"/>
            <a:ext cx="3520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i="0" b="0">
                <a:solidFill>
                  <a:srgbClr val="5B5B66"/>
                </a:solidFill>
                <a:latin typeface="Inter"/>
              </a:rPr>
              <a:t>3rd-year ENSIA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3267" y="5852160"/>
            <a:ext cx="3154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i="0" b="0">
                <a:solidFill>
                  <a:srgbClr val="0B0B0F"/>
                </a:solidFill>
                <a:latin typeface="Inter"/>
              </a:rPr>
              <a:t>Editorial design system · Attendance grid · Quiz editor · Offline-first sync.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i="1" b="0">
                <a:solidFill>
                  <a:srgbClr val="E26412"/>
                </a:solidFill>
                <a:latin typeface="Inter"/>
              </a:rPr>
              <a:t>We are hiring  ·  Design lead  ·  Marketing / outreach lead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ectu-log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47" y="1280160"/>
            <a:ext cx="320040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47207" y="2606040"/>
            <a:ext cx="1097280" cy="31750"/>
          </a:xfrm>
          <a:prstGeom prst="rect">
            <a:avLst/>
          </a:prstGeom>
          <a:solidFill>
            <a:srgbClr val="E2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200" i="0" b="1">
                <a:solidFill>
                  <a:srgbClr val="0B0B0F"/>
                </a:solidFill>
                <a:latin typeface="Source Serif Pro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i="1" b="0">
                <a:solidFill>
                  <a:srgbClr val="5B5B66"/>
                </a:solidFill>
                <a:latin typeface="Inter"/>
              </a:rPr>
              <a:t>Special thanks to Dr. Brahimi Mohamed and the ENSIA incubator program</a:t>
            </a:r>
          </a:p>
          <a:p>
            <a:pPr algn="ctr">
              <a:spcAft>
                <a:spcPts val="600"/>
              </a:spcAft>
            </a:pPr>
            <a:r>
              <a:rPr sz="1200" i="1" b="0">
                <a:solidFill>
                  <a:srgbClr val="5B5B66"/>
                </a:solidFill>
                <a:latin typeface="Inter"/>
              </a:rPr>
              <a:t>for ongoing mentorship and guidance.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i="0" b="0">
                <a:solidFill>
                  <a:srgbClr val="0B0B0F"/>
                </a:solidFill>
                <a:latin typeface="Inter"/>
              </a:rPr>
              <a:t>Lectu — Built for the Algerian university classroom.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i="0" b="0">
                <a:solidFill>
                  <a:srgbClr val="5B5B66"/>
                </a:solidFill>
                <a:latin typeface="Inter"/>
              </a:rPr>
              <a:t>[contact email]   ·   [Lectu URL]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i="1" b="0">
                <a:solidFill>
                  <a:srgbClr val="E26412"/>
                </a:solidFill>
                <a:latin typeface="Inter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