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Inter Italics" charset="1" panose="02000503000000020004"/>
      <p:regular r:id="rId21"/>
    </p:embeddedFont>
    <p:embeddedFont>
      <p:font typeface="Inter" charset="1" panose="02000503000000020004"/>
      <p:regular r:id="rId22"/>
    </p:embeddedFont>
    <p:embeddedFont>
      <p:font typeface="Garet Bold" charset="1" panose="00000000000000000000"/>
      <p:regular r:id="rId23"/>
    </p:embeddedFont>
    <p:embeddedFont>
      <p:font typeface="Source Serif Pro Bold" charset="1" panose="02040803050405020204"/>
      <p:regular r:id="rId24"/>
    </p:embeddedFont>
    <p:embeddedFont>
      <p:font typeface="Inter Bold" charset="1" panose="02000503000000020004"/>
      <p:regular r:id="rId25"/>
    </p:embeddedFont>
    <p:embeddedFont>
      <p:font typeface="Inter Bold Italics" charset="1" panose="020005030000000200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5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7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8327317" y="4735716"/>
            <a:ext cx="1647206" cy="47663"/>
            <a:chOff x="0" y="0"/>
            <a:chExt cx="2196274" cy="6355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6338" cy="63500"/>
            </a:xfrm>
            <a:custGeom>
              <a:avLst/>
              <a:gdLst/>
              <a:ahLst/>
              <a:cxnLst/>
              <a:rect r="r" b="b" t="t" l="l"/>
              <a:pathLst>
                <a:path h="63500" w="2196338">
                  <a:moveTo>
                    <a:pt x="0" y="0"/>
                  </a:moveTo>
                  <a:lnTo>
                    <a:pt x="2196338" y="0"/>
                  </a:lnTo>
                  <a:lnTo>
                    <a:pt x="2196338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23608" y="5124612"/>
            <a:ext cx="16654634" cy="819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i="true">
                <a:solidFill>
                  <a:srgbClr val="5B5B66"/>
                </a:solidFill>
                <a:latin typeface="Inter Italics"/>
                <a:ea typeface="Inter Italics"/>
                <a:cs typeface="Inter Italics"/>
                <a:sym typeface="Inter Italics"/>
              </a:rPr>
              <a:t>Manage your whole school</a:t>
            </a:r>
          </a:p>
          <a:p>
            <a:pPr algn="ctr">
              <a:lnSpc>
                <a:spcPts val="3242"/>
              </a:lnSpc>
            </a:pPr>
            <a:r>
              <a:rPr lang="en-US" sz="2702" i="true">
                <a:solidFill>
                  <a:srgbClr val="5B5B66"/>
                </a:solidFill>
                <a:latin typeface="Inter Italics"/>
                <a:ea typeface="Inter Italics"/>
                <a:cs typeface="Inter Italics"/>
                <a:sym typeface="Inter Italics"/>
              </a:rPr>
              <a:t> from one single place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7320886"/>
            <a:ext cx="1665463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ENSIA Incubator — Demo Day · 2026-05-09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3608" y="8066332"/>
            <a:ext cx="1665463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[Founder 1]   ·   [Founder 2]   ·   [Founder 3]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3608" y="8546763"/>
            <a:ext cx="1665463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i="true">
                <a:solidFill>
                  <a:srgbClr val="5B5B66"/>
                </a:solidFill>
                <a:latin typeface="Inter Italics"/>
                <a:ea typeface="Inter Italics"/>
                <a:cs typeface="Inter Italics"/>
                <a:sym typeface="Inter Italics"/>
              </a:rPr>
              <a:t>3rd-year ENSIA students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52222" y="285636"/>
            <a:ext cx="1752803" cy="1752803"/>
          </a:xfrm>
          <a:custGeom>
            <a:avLst/>
            <a:gdLst/>
            <a:ahLst/>
            <a:cxnLst/>
            <a:rect r="r" b="b" t="t" l="l"/>
            <a:pathLst>
              <a:path h="1752803" w="1752803">
                <a:moveTo>
                  <a:pt x="0" y="0"/>
                </a:moveTo>
                <a:lnTo>
                  <a:pt x="1752803" y="0"/>
                </a:lnTo>
                <a:lnTo>
                  <a:pt x="1752803" y="1752802"/>
                </a:lnTo>
                <a:lnTo>
                  <a:pt x="0" y="17528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347333" y="708660"/>
            <a:ext cx="5448300" cy="668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40"/>
              </a:lnSpc>
            </a:pPr>
            <a:r>
              <a:rPr lang="en-US" b="true" sz="2400" spc="60">
                <a:solidFill>
                  <a:srgbClr val="222222"/>
                </a:solidFill>
                <a:latin typeface="Garet Bold"/>
                <a:ea typeface="Garet Bold"/>
                <a:cs typeface="Garet Bold"/>
                <a:sym typeface="Garet Bold"/>
              </a:rPr>
              <a:t>LECTU: UNIVERSITY ATTENDANCE PLATFORM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7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74202" y="480431"/>
            <a:ext cx="1304039" cy="439255"/>
            <a:chOff x="0" y="0"/>
            <a:chExt cx="1738719" cy="585673"/>
          </a:xfrm>
        </p:grpSpPr>
        <p:sp>
          <p:nvSpPr>
            <p:cNvPr name="Freeform 5" id="5" descr="_lectu-logo-wordmark.png"/>
            <p:cNvSpPr/>
            <p:nvPr/>
          </p:nvSpPr>
          <p:spPr>
            <a:xfrm flipH="false" flipV="false" rot="0">
              <a:off x="0" y="0"/>
              <a:ext cx="1738757" cy="585724"/>
            </a:xfrm>
            <a:custGeom>
              <a:avLst/>
              <a:gdLst/>
              <a:ahLst/>
              <a:cxnLst/>
              <a:rect r="r" b="b" t="t" l="l"/>
              <a:pathLst>
                <a:path h="585724" w="1738757">
                  <a:moveTo>
                    <a:pt x="0" y="0"/>
                  </a:moveTo>
                  <a:lnTo>
                    <a:pt x="1738757" y="0"/>
                  </a:lnTo>
                  <a:lnTo>
                    <a:pt x="1738757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927" r="2" b="-791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20458" y="1921745"/>
            <a:ext cx="10432313" cy="6863363"/>
            <a:chOff x="0" y="0"/>
            <a:chExt cx="13909751" cy="91511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09802" cy="9151112"/>
            </a:xfrm>
            <a:custGeom>
              <a:avLst/>
              <a:gdLst/>
              <a:ahLst/>
              <a:cxnLst/>
              <a:rect r="r" b="b" t="t" l="l"/>
              <a:pathLst>
                <a:path h="9151112" w="13909802">
                  <a:moveTo>
                    <a:pt x="0" y="0"/>
                  </a:moveTo>
                  <a:lnTo>
                    <a:pt x="13909802" y="0"/>
                  </a:lnTo>
                  <a:lnTo>
                    <a:pt x="13909802" y="9151112"/>
                  </a:lnTo>
                  <a:lnTo>
                    <a:pt x="0" y="91511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6958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823608" y="1976990"/>
            <a:ext cx="6451559" cy="195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true">
                <a:solidFill>
                  <a:srgbClr val="0B0B0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In 90 seconds: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3608" y="3157147"/>
            <a:ext cx="823608" cy="47663"/>
            <a:chOff x="0" y="0"/>
            <a:chExt cx="1098144" cy="635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8169" cy="63500"/>
            </a:xfrm>
            <a:custGeom>
              <a:avLst/>
              <a:gdLst/>
              <a:ahLst/>
              <a:cxnLst/>
              <a:rect r="r" b="b" t="t" l="l"/>
              <a:pathLst>
                <a:path h="63500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6654634" y="9677343"/>
            <a:ext cx="13726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02 · 16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3608" y="1166774"/>
            <a:ext cx="16654634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DEMO · 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3608" y="3605146"/>
            <a:ext cx="6451559" cy="2663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1"/>
              </a:lnSpc>
            </a:pPr>
            <a:r>
              <a:rPr lang="en-US" sz="195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A teacher opens Lectu → Generates a QR code → 90 students check in → A live quiz happens → The teacher walks out with attendance, engagement, and grades — all captured.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3608" y="7458151"/>
            <a:ext cx="6451559" cy="265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i="true">
                <a:solidFill>
                  <a:srgbClr val="E26412"/>
                </a:solidFill>
                <a:latin typeface="Inter Italics"/>
                <a:ea typeface="Inter Italics"/>
                <a:cs typeface="Inter Italics"/>
                <a:sym typeface="Inter Italics"/>
              </a:rPr>
              <a:t>This is happening at ENSIA right now.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7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74202" y="480431"/>
            <a:ext cx="1304039" cy="439255"/>
            <a:chOff x="0" y="0"/>
            <a:chExt cx="1738719" cy="585673"/>
          </a:xfrm>
        </p:grpSpPr>
        <p:sp>
          <p:nvSpPr>
            <p:cNvPr name="Freeform 5" id="5" descr="_lectu-logo-wordmark.png"/>
            <p:cNvSpPr/>
            <p:nvPr/>
          </p:nvSpPr>
          <p:spPr>
            <a:xfrm flipH="false" flipV="false" rot="0">
              <a:off x="0" y="0"/>
              <a:ext cx="1738757" cy="585724"/>
            </a:xfrm>
            <a:custGeom>
              <a:avLst/>
              <a:gdLst/>
              <a:ahLst/>
              <a:cxnLst/>
              <a:rect r="r" b="b" t="t" l="l"/>
              <a:pathLst>
                <a:path h="585724" w="1738757">
                  <a:moveTo>
                    <a:pt x="0" y="0"/>
                  </a:moveTo>
                  <a:lnTo>
                    <a:pt x="1738757" y="0"/>
                  </a:lnTo>
                  <a:lnTo>
                    <a:pt x="1738757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927" r="2" b="-791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654634" y="9677343"/>
            <a:ext cx="13726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03 · 16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166774"/>
            <a:ext cx="16654634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THE PROBLEM · 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3608" y="1692926"/>
            <a:ext cx="16654634" cy="196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0B0B0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How Algerian universities run</a:t>
            </a:r>
          </a:p>
          <a:p>
            <a:pPr algn="l">
              <a:lnSpc>
                <a:spcPts val="6124"/>
              </a:lnSpc>
            </a:pPr>
            <a:r>
              <a:rPr lang="en-US" sz="5103" b="true">
                <a:solidFill>
                  <a:srgbClr val="0B0B0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their classrooms today.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3608" y="3912118"/>
            <a:ext cx="1098137" cy="47663"/>
            <a:chOff x="0" y="0"/>
            <a:chExt cx="1464183" cy="635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4183" cy="63500"/>
            </a:xfrm>
            <a:custGeom>
              <a:avLst/>
              <a:gdLst/>
              <a:ahLst/>
              <a:cxnLst/>
              <a:rect r="r" b="b" t="t" l="l"/>
              <a:pathLst>
                <a:path h="63500" w="1464183">
                  <a:moveTo>
                    <a:pt x="0" y="0"/>
                  </a:moveTo>
                  <a:lnTo>
                    <a:pt x="1464183" y="0"/>
                  </a:lnTo>
                  <a:lnTo>
                    <a:pt x="1464183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23608" y="4428744"/>
            <a:ext cx="7824235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WHAT TEACHERS DO TODAY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08706" y="4428744"/>
            <a:ext cx="7824235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WHAT IT COSTS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3608" y="4918710"/>
            <a:ext cx="7824235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Pass paper sign-in sheets in 200-person lectures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8706" y="4918710"/>
            <a:ext cx="7824235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Lost time, miscounts, fraud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3608" y="5673681"/>
            <a:ext cx="7824235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Track attendance in personal Excel files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08706" y="5673681"/>
            <a:ext cx="7824235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No analytics, no consolidation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3608" y="6428651"/>
            <a:ext cx="7824235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Coordinate justifications via WhatsApp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08706" y="6428651"/>
            <a:ext cx="7824235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No audit trail, no compliance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3608" y="7183612"/>
            <a:ext cx="7824235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Run live quizzes via Kahoot (paid out of pocket)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08706" y="7183612"/>
            <a:ext cx="7824235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$15–25 per teacher / month, not in DZD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3608" y="7938583"/>
            <a:ext cx="7824235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Enter grades in Progres at end of semester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08706" y="7938583"/>
            <a:ext cx="7824235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No real-time feedback to students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23608" y="9027195"/>
            <a:ext cx="16654634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 i="true">
                <a:solidFill>
                  <a:srgbClr val="0B0B0F"/>
                </a:solidFill>
                <a:latin typeface="Inter Italics"/>
                <a:ea typeface="Inter Italics"/>
                <a:cs typeface="Inter Italics"/>
                <a:sym typeface="Inter Italics"/>
              </a:rPr>
              <a:t>Progres is a registrar. Moodle is a PDF dropbox. Nothing is built for the classroom.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7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74202" y="480431"/>
            <a:ext cx="1304039" cy="439255"/>
            <a:chOff x="0" y="0"/>
            <a:chExt cx="1738719" cy="585673"/>
          </a:xfrm>
        </p:grpSpPr>
        <p:sp>
          <p:nvSpPr>
            <p:cNvPr name="Freeform 5" id="5" descr="_lectu-logo-wordmark.png"/>
            <p:cNvSpPr/>
            <p:nvPr/>
          </p:nvSpPr>
          <p:spPr>
            <a:xfrm flipH="false" flipV="false" rot="0">
              <a:off x="0" y="0"/>
              <a:ext cx="1738757" cy="585724"/>
            </a:xfrm>
            <a:custGeom>
              <a:avLst/>
              <a:gdLst/>
              <a:ahLst/>
              <a:cxnLst/>
              <a:rect r="r" b="b" t="t" l="l"/>
              <a:pathLst>
                <a:path h="585724" w="1738757">
                  <a:moveTo>
                    <a:pt x="0" y="0"/>
                  </a:moveTo>
                  <a:lnTo>
                    <a:pt x="1738757" y="0"/>
                  </a:lnTo>
                  <a:lnTo>
                    <a:pt x="1738757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927" r="2" b="-791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654634" y="9677343"/>
            <a:ext cx="13726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04 · 16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702451"/>
            <a:ext cx="16654634" cy="195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64"/>
              </a:lnSpc>
            </a:pPr>
            <a:r>
              <a:rPr lang="en-US" sz="4803" b="true">
                <a:solidFill>
                  <a:srgbClr val="0B0B0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Four features, one platform.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823608" y="2745343"/>
            <a:ext cx="1098137" cy="47663"/>
            <a:chOff x="0" y="0"/>
            <a:chExt cx="1464183" cy="635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64183" cy="63500"/>
            </a:xfrm>
            <a:custGeom>
              <a:avLst/>
              <a:gdLst/>
              <a:ahLst/>
              <a:cxnLst/>
              <a:rect r="r" b="b" t="t" l="l"/>
              <a:pathLst>
                <a:path h="63500" w="1464183">
                  <a:moveTo>
                    <a:pt x="0" y="0"/>
                  </a:moveTo>
                  <a:lnTo>
                    <a:pt x="1464183" y="0"/>
                  </a:lnTo>
                  <a:lnTo>
                    <a:pt x="1464183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18836" y="3426914"/>
            <a:ext cx="8176936" cy="3303946"/>
            <a:chOff x="0" y="0"/>
            <a:chExt cx="10902582" cy="44052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10889869" cy="4392549"/>
            </a:xfrm>
            <a:custGeom>
              <a:avLst/>
              <a:gdLst/>
              <a:ahLst/>
              <a:cxnLst/>
              <a:rect r="r" b="b" t="t" l="l"/>
              <a:pathLst>
                <a:path h="4392549" w="10889869">
                  <a:moveTo>
                    <a:pt x="0" y="0"/>
                  </a:moveTo>
                  <a:lnTo>
                    <a:pt x="10889869" y="0"/>
                  </a:lnTo>
                  <a:lnTo>
                    <a:pt x="10889869" y="4392549"/>
                  </a:lnTo>
                  <a:lnTo>
                    <a:pt x="0" y="4392549"/>
                  </a:ln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02569" cy="4405249"/>
            </a:xfrm>
            <a:custGeom>
              <a:avLst/>
              <a:gdLst/>
              <a:ahLst/>
              <a:cxnLst/>
              <a:rect r="r" b="b" t="t" l="l"/>
              <a:pathLst>
                <a:path h="4405249" w="10902569">
                  <a:moveTo>
                    <a:pt x="6350" y="0"/>
                  </a:moveTo>
                  <a:lnTo>
                    <a:pt x="10896219" y="0"/>
                  </a:lnTo>
                  <a:cubicBezTo>
                    <a:pt x="10899775" y="0"/>
                    <a:pt x="10902569" y="2794"/>
                    <a:pt x="10902569" y="6350"/>
                  </a:cubicBezTo>
                  <a:lnTo>
                    <a:pt x="10902569" y="4398899"/>
                  </a:lnTo>
                  <a:cubicBezTo>
                    <a:pt x="10902569" y="4402455"/>
                    <a:pt x="10899775" y="4405249"/>
                    <a:pt x="10896219" y="4405249"/>
                  </a:cubicBezTo>
                  <a:lnTo>
                    <a:pt x="6350" y="4405249"/>
                  </a:lnTo>
                  <a:cubicBezTo>
                    <a:pt x="2794" y="4405249"/>
                    <a:pt x="0" y="4402455"/>
                    <a:pt x="0" y="4398899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398899"/>
                  </a:lnTo>
                  <a:lnTo>
                    <a:pt x="6350" y="4398899"/>
                  </a:lnTo>
                  <a:lnTo>
                    <a:pt x="6350" y="4392549"/>
                  </a:lnTo>
                  <a:lnTo>
                    <a:pt x="10896219" y="4392549"/>
                  </a:lnTo>
                  <a:lnTo>
                    <a:pt x="10896219" y="4398899"/>
                  </a:lnTo>
                  <a:lnTo>
                    <a:pt x="10889869" y="4398899"/>
                  </a:lnTo>
                  <a:lnTo>
                    <a:pt x="10889869" y="6350"/>
                  </a:lnTo>
                  <a:lnTo>
                    <a:pt x="10896219" y="6350"/>
                  </a:lnTo>
                  <a:lnTo>
                    <a:pt x="10896219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7C2B6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8137" y="3980755"/>
            <a:ext cx="3294412" cy="2196274"/>
            <a:chOff x="0" y="0"/>
            <a:chExt cx="4392549" cy="2928366"/>
          </a:xfrm>
        </p:grpSpPr>
        <p:sp>
          <p:nvSpPr>
            <p:cNvPr name="Freeform 14" id="14" descr="12-teacher-module-ml-detail.png"/>
            <p:cNvSpPr/>
            <p:nvPr/>
          </p:nvSpPr>
          <p:spPr>
            <a:xfrm flipH="false" flipV="false" rot="0">
              <a:off x="0" y="0"/>
              <a:ext cx="4392549" cy="2928366"/>
            </a:xfrm>
            <a:custGeom>
              <a:avLst/>
              <a:gdLst/>
              <a:ahLst/>
              <a:cxnLst/>
              <a:rect r="r" b="b" t="t" l="l"/>
              <a:pathLst>
                <a:path h="2928366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2928366"/>
                  </a:lnTo>
                  <a:lnTo>
                    <a:pt x="0" y="2928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333" t="0" r="-333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667088" y="4392549"/>
            <a:ext cx="549069" cy="47663"/>
            <a:chOff x="0" y="0"/>
            <a:chExt cx="732092" cy="6355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2155" cy="63500"/>
            </a:xfrm>
            <a:custGeom>
              <a:avLst/>
              <a:gdLst/>
              <a:ahLst/>
              <a:cxnLst/>
              <a:rect r="r" b="b" t="t" l="l"/>
              <a:pathLst>
                <a:path h="63500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329404" y="3426914"/>
            <a:ext cx="8176936" cy="3303946"/>
            <a:chOff x="0" y="0"/>
            <a:chExt cx="10902582" cy="44052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10889869" cy="4392549"/>
            </a:xfrm>
            <a:custGeom>
              <a:avLst/>
              <a:gdLst/>
              <a:ahLst/>
              <a:cxnLst/>
              <a:rect r="r" b="b" t="t" l="l"/>
              <a:pathLst>
                <a:path h="4392549" w="10889869">
                  <a:moveTo>
                    <a:pt x="0" y="0"/>
                  </a:moveTo>
                  <a:lnTo>
                    <a:pt x="10889869" y="0"/>
                  </a:lnTo>
                  <a:lnTo>
                    <a:pt x="10889869" y="4392549"/>
                  </a:lnTo>
                  <a:lnTo>
                    <a:pt x="0" y="4392549"/>
                  </a:ln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02569" cy="4405249"/>
            </a:xfrm>
            <a:custGeom>
              <a:avLst/>
              <a:gdLst/>
              <a:ahLst/>
              <a:cxnLst/>
              <a:rect r="r" b="b" t="t" l="l"/>
              <a:pathLst>
                <a:path h="4405249" w="10902569">
                  <a:moveTo>
                    <a:pt x="6350" y="0"/>
                  </a:moveTo>
                  <a:lnTo>
                    <a:pt x="10896219" y="0"/>
                  </a:lnTo>
                  <a:cubicBezTo>
                    <a:pt x="10899775" y="0"/>
                    <a:pt x="10902569" y="2794"/>
                    <a:pt x="10902569" y="6350"/>
                  </a:cubicBezTo>
                  <a:lnTo>
                    <a:pt x="10902569" y="4398899"/>
                  </a:lnTo>
                  <a:cubicBezTo>
                    <a:pt x="10902569" y="4402455"/>
                    <a:pt x="10899775" y="4405249"/>
                    <a:pt x="10896219" y="4405249"/>
                  </a:cubicBezTo>
                  <a:lnTo>
                    <a:pt x="6350" y="4405249"/>
                  </a:lnTo>
                  <a:cubicBezTo>
                    <a:pt x="2794" y="4405249"/>
                    <a:pt x="0" y="4402455"/>
                    <a:pt x="0" y="4398899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398899"/>
                  </a:lnTo>
                  <a:lnTo>
                    <a:pt x="6350" y="4398899"/>
                  </a:lnTo>
                  <a:lnTo>
                    <a:pt x="6350" y="4392549"/>
                  </a:lnTo>
                  <a:lnTo>
                    <a:pt x="10896219" y="4392549"/>
                  </a:lnTo>
                  <a:lnTo>
                    <a:pt x="10896219" y="4398899"/>
                  </a:lnTo>
                  <a:lnTo>
                    <a:pt x="10889869" y="4398899"/>
                  </a:lnTo>
                  <a:lnTo>
                    <a:pt x="10889869" y="6350"/>
                  </a:lnTo>
                  <a:lnTo>
                    <a:pt x="10896219" y="6350"/>
                  </a:lnTo>
                  <a:lnTo>
                    <a:pt x="10896219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7C2B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08706" y="3980755"/>
            <a:ext cx="3294412" cy="2196274"/>
            <a:chOff x="0" y="0"/>
            <a:chExt cx="4392549" cy="2928366"/>
          </a:xfrm>
        </p:grpSpPr>
        <p:sp>
          <p:nvSpPr>
            <p:cNvPr name="Freeform 21" id="21" descr="20-teacher-quiz-stats.png"/>
            <p:cNvSpPr/>
            <p:nvPr/>
          </p:nvSpPr>
          <p:spPr>
            <a:xfrm flipH="false" flipV="false" rot="0">
              <a:off x="0" y="0"/>
              <a:ext cx="4392549" cy="2928366"/>
            </a:xfrm>
            <a:custGeom>
              <a:avLst/>
              <a:gdLst/>
              <a:ahLst/>
              <a:cxnLst/>
              <a:rect r="r" b="b" t="t" l="l"/>
              <a:pathLst>
                <a:path h="2928366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2928366"/>
                  </a:lnTo>
                  <a:lnTo>
                    <a:pt x="0" y="2928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333" t="0" r="-3333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177657" y="4392549"/>
            <a:ext cx="549069" cy="47663"/>
            <a:chOff x="0" y="0"/>
            <a:chExt cx="732092" cy="635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2155" cy="63500"/>
            </a:xfrm>
            <a:custGeom>
              <a:avLst/>
              <a:gdLst/>
              <a:ahLst/>
              <a:cxnLst/>
              <a:rect r="r" b="b" t="t" l="l"/>
              <a:pathLst>
                <a:path h="63500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18836" y="7064492"/>
            <a:ext cx="8176936" cy="3303946"/>
            <a:chOff x="0" y="0"/>
            <a:chExt cx="10902582" cy="44052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6350" y="6350"/>
              <a:ext cx="10889869" cy="4392549"/>
            </a:xfrm>
            <a:custGeom>
              <a:avLst/>
              <a:gdLst/>
              <a:ahLst/>
              <a:cxnLst/>
              <a:rect r="r" b="b" t="t" l="l"/>
              <a:pathLst>
                <a:path h="4392549" w="10889869">
                  <a:moveTo>
                    <a:pt x="0" y="0"/>
                  </a:moveTo>
                  <a:lnTo>
                    <a:pt x="10889869" y="0"/>
                  </a:lnTo>
                  <a:lnTo>
                    <a:pt x="10889869" y="4392549"/>
                  </a:lnTo>
                  <a:lnTo>
                    <a:pt x="0" y="4392549"/>
                  </a:ln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02569" cy="4405249"/>
            </a:xfrm>
            <a:custGeom>
              <a:avLst/>
              <a:gdLst/>
              <a:ahLst/>
              <a:cxnLst/>
              <a:rect r="r" b="b" t="t" l="l"/>
              <a:pathLst>
                <a:path h="4405249" w="10902569">
                  <a:moveTo>
                    <a:pt x="6350" y="0"/>
                  </a:moveTo>
                  <a:lnTo>
                    <a:pt x="10896219" y="0"/>
                  </a:lnTo>
                  <a:cubicBezTo>
                    <a:pt x="10899775" y="0"/>
                    <a:pt x="10902569" y="2794"/>
                    <a:pt x="10902569" y="6350"/>
                  </a:cubicBezTo>
                  <a:lnTo>
                    <a:pt x="10902569" y="4398899"/>
                  </a:lnTo>
                  <a:cubicBezTo>
                    <a:pt x="10902569" y="4402455"/>
                    <a:pt x="10899775" y="4405249"/>
                    <a:pt x="10896219" y="4405249"/>
                  </a:cubicBezTo>
                  <a:lnTo>
                    <a:pt x="6350" y="4405249"/>
                  </a:lnTo>
                  <a:cubicBezTo>
                    <a:pt x="2794" y="4405249"/>
                    <a:pt x="0" y="4402455"/>
                    <a:pt x="0" y="4398899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398899"/>
                  </a:lnTo>
                  <a:lnTo>
                    <a:pt x="6350" y="4398899"/>
                  </a:lnTo>
                  <a:lnTo>
                    <a:pt x="6350" y="4392549"/>
                  </a:lnTo>
                  <a:lnTo>
                    <a:pt x="10896219" y="4392549"/>
                  </a:lnTo>
                  <a:lnTo>
                    <a:pt x="10896219" y="4398899"/>
                  </a:lnTo>
                  <a:lnTo>
                    <a:pt x="10889869" y="4398899"/>
                  </a:lnTo>
                  <a:lnTo>
                    <a:pt x="10889869" y="6350"/>
                  </a:lnTo>
                  <a:lnTo>
                    <a:pt x="10896219" y="6350"/>
                  </a:lnTo>
                  <a:lnTo>
                    <a:pt x="10896219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7C2B6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98137" y="7618333"/>
            <a:ext cx="3294412" cy="2196274"/>
            <a:chOff x="0" y="0"/>
            <a:chExt cx="4392549" cy="2928366"/>
          </a:xfrm>
        </p:grpSpPr>
        <p:sp>
          <p:nvSpPr>
            <p:cNvPr name="Freeform 28" id="28" descr="22-teacher-justifications.png"/>
            <p:cNvSpPr/>
            <p:nvPr/>
          </p:nvSpPr>
          <p:spPr>
            <a:xfrm flipH="false" flipV="false" rot="0">
              <a:off x="0" y="0"/>
              <a:ext cx="4392549" cy="2928366"/>
            </a:xfrm>
            <a:custGeom>
              <a:avLst/>
              <a:gdLst/>
              <a:ahLst/>
              <a:cxnLst/>
              <a:rect r="r" b="b" t="t" l="l"/>
              <a:pathLst>
                <a:path h="2928366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2928366"/>
                  </a:lnTo>
                  <a:lnTo>
                    <a:pt x="0" y="2928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333" t="0" r="-3333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667088" y="8030137"/>
            <a:ext cx="549069" cy="47663"/>
            <a:chOff x="0" y="0"/>
            <a:chExt cx="732092" cy="635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2155" cy="63500"/>
            </a:xfrm>
            <a:custGeom>
              <a:avLst/>
              <a:gdLst/>
              <a:ahLst/>
              <a:cxnLst/>
              <a:rect r="r" b="b" t="t" l="l"/>
              <a:pathLst>
                <a:path h="63500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329404" y="7064492"/>
            <a:ext cx="8176936" cy="3303946"/>
            <a:chOff x="0" y="0"/>
            <a:chExt cx="10902582" cy="440526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6350" y="6350"/>
              <a:ext cx="10889869" cy="4392549"/>
            </a:xfrm>
            <a:custGeom>
              <a:avLst/>
              <a:gdLst/>
              <a:ahLst/>
              <a:cxnLst/>
              <a:rect r="r" b="b" t="t" l="l"/>
              <a:pathLst>
                <a:path h="4392549" w="10889869">
                  <a:moveTo>
                    <a:pt x="0" y="0"/>
                  </a:moveTo>
                  <a:lnTo>
                    <a:pt x="10889869" y="0"/>
                  </a:lnTo>
                  <a:lnTo>
                    <a:pt x="10889869" y="4392549"/>
                  </a:lnTo>
                  <a:lnTo>
                    <a:pt x="0" y="4392549"/>
                  </a:ln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02569" cy="4405249"/>
            </a:xfrm>
            <a:custGeom>
              <a:avLst/>
              <a:gdLst/>
              <a:ahLst/>
              <a:cxnLst/>
              <a:rect r="r" b="b" t="t" l="l"/>
              <a:pathLst>
                <a:path h="4405249" w="10902569">
                  <a:moveTo>
                    <a:pt x="6350" y="0"/>
                  </a:moveTo>
                  <a:lnTo>
                    <a:pt x="10896219" y="0"/>
                  </a:lnTo>
                  <a:cubicBezTo>
                    <a:pt x="10899775" y="0"/>
                    <a:pt x="10902569" y="2794"/>
                    <a:pt x="10902569" y="6350"/>
                  </a:cubicBezTo>
                  <a:lnTo>
                    <a:pt x="10902569" y="4398899"/>
                  </a:lnTo>
                  <a:cubicBezTo>
                    <a:pt x="10902569" y="4402455"/>
                    <a:pt x="10899775" y="4405249"/>
                    <a:pt x="10896219" y="4405249"/>
                  </a:cubicBezTo>
                  <a:lnTo>
                    <a:pt x="6350" y="4405249"/>
                  </a:lnTo>
                  <a:cubicBezTo>
                    <a:pt x="2794" y="4405249"/>
                    <a:pt x="0" y="4402455"/>
                    <a:pt x="0" y="4398899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398899"/>
                  </a:lnTo>
                  <a:lnTo>
                    <a:pt x="6350" y="4398899"/>
                  </a:lnTo>
                  <a:lnTo>
                    <a:pt x="6350" y="4392549"/>
                  </a:lnTo>
                  <a:lnTo>
                    <a:pt x="10896219" y="4392549"/>
                  </a:lnTo>
                  <a:lnTo>
                    <a:pt x="10896219" y="4398899"/>
                  </a:lnTo>
                  <a:lnTo>
                    <a:pt x="10889869" y="4398899"/>
                  </a:lnTo>
                  <a:lnTo>
                    <a:pt x="10889869" y="6350"/>
                  </a:lnTo>
                  <a:lnTo>
                    <a:pt x="10896219" y="6350"/>
                  </a:lnTo>
                  <a:lnTo>
                    <a:pt x="10896219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7C2B6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608706" y="7618333"/>
            <a:ext cx="3294412" cy="2196274"/>
            <a:chOff x="0" y="0"/>
            <a:chExt cx="4392549" cy="2928366"/>
          </a:xfrm>
        </p:grpSpPr>
        <p:sp>
          <p:nvSpPr>
            <p:cNvPr name="Freeform 35" id="35" descr="23-teacher-grades.png"/>
            <p:cNvSpPr/>
            <p:nvPr/>
          </p:nvSpPr>
          <p:spPr>
            <a:xfrm flipH="false" flipV="false" rot="0">
              <a:off x="0" y="0"/>
              <a:ext cx="4392549" cy="2928366"/>
            </a:xfrm>
            <a:custGeom>
              <a:avLst/>
              <a:gdLst/>
              <a:ahLst/>
              <a:cxnLst/>
              <a:rect r="r" b="b" t="t" l="l"/>
              <a:pathLst>
                <a:path h="2928366" w="4392549">
                  <a:moveTo>
                    <a:pt x="0" y="0"/>
                  </a:moveTo>
                  <a:lnTo>
                    <a:pt x="4392549" y="0"/>
                  </a:lnTo>
                  <a:lnTo>
                    <a:pt x="4392549" y="2928366"/>
                  </a:lnTo>
                  <a:lnTo>
                    <a:pt x="0" y="2928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333" t="0" r="-3333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3177657" y="8030137"/>
            <a:ext cx="549069" cy="47663"/>
            <a:chOff x="0" y="0"/>
            <a:chExt cx="732092" cy="6355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32155" cy="63500"/>
            </a:xfrm>
            <a:custGeom>
              <a:avLst/>
              <a:gdLst/>
              <a:ahLst/>
              <a:cxnLst/>
              <a:rect r="r" b="b" t="t" l="l"/>
              <a:pathLst>
                <a:path h="63500" w="732155">
                  <a:moveTo>
                    <a:pt x="0" y="0"/>
                  </a:moveTo>
                  <a:lnTo>
                    <a:pt x="732155" y="0"/>
                  </a:lnTo>
                  <a:lnTo>
                    <a:pt x="732155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823608" y="1166774"/>
            <a:ext cx="16654634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THE SOLUTION · 04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667088" y="3811048"/>
            <a:ext cx="4049382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B0B0F"/>
                </a:solidFill>
                <a:latin typeface="Inter Bold"/>
                <a:ea typeface="Inter Bold"/>
                <a:cs typeface="Inter Bold"/>
                <a:sym typeface="Inter Bold"/>
              </a:rPr>
              <a:t>Attendance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667088" y="4771911"/>
            <a:ext cx="4049382" cy="183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QR check-in · Manual mark · Card scan · Geofence verification · Offline mode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177657" y="3811048"/>
            <a:ext cx="4049382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B0B0F"/>
                </a:solidFill>
                <a:latin typeface="Inter Bold"/>
                <a:ea typeface="Inter Bold"/>
                <a:cs typeface="Inter Bold"/>
                <a:sym typeface="Inter Bold"/>
              </a:rPr>
              <a:t>Live &amp; Async Quizzes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177657" y="4771911"/>
            <a:ext cx="4049382" cy="183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In-class real-time leaderboard · Scheduled async with auto-grading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4667088" y="7448626"/>
            <a:ext cx="4049382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B0B0F"/>
                </a:solidFill>
                <a:latin typeface="Inter Bold"/>
                <a:ea typeface="Inter Bold"/>
                <a:cs typeface="Inter Bold"/>
                <a:sym typeface="Inter Bold"/>
              </a:rPr>
              <a:t>Justifications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667088" y="8409499"/>
            <a:ext cx="4049382" cy="183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Students submit with file attachments · Teachers/admin review and approve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177657" y="7448626"/>
            <a:ext cx="4049382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2"/>
              </a:lnSpc>
            </a:pPr>
            <a:r>
              <a:rPr lang="en-US" sz="2251" b="true">
                <a:solidFill>
                  <a:srgbClr val="0B0B0F"/>
                </a:solidFill>
                <a:latin typeface="Inter Bold"/>
                <a:ea typeface="Inter Bold"/>
                <a:cs typeface="Inter Bold"/>
                <a:sym typeface="Inter Bold"/>
              </a:rPr>
              <a:t>Grades &amp; Reports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177657" y="8409499"/>
            <a:ext cx="4049382" cy="1839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Per-module tracking · 15-week attendance Excel export · Auto-notify students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23608" y="9957111"/>
            <a:ext cx="1665463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i="true">
                <a:solidFill>
                  <a:srgbClr val="5B5B66"/>
                </a:solidFill>
                <a:latin typeface="Inter Italics"/>
                <a:ea typeface="Inter Italics"/>
                <a:cs typeface="Inter Italics"/>
                <a:sym typeface="Inter Italics"/>
              </a:rPr>
              <a:t>Plus: announcements, real-time notifications, calendar integration, role-based dashboards.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7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74202" y="480431"/>
            <a:ext cx="1304039" cy="439255"/>
            <a:chOff x="0" y="0"/>
            <a:chExt cx="1738719" cy="585673"/>
          </a:xfrm>
        </p:grpSpPr>
        <p:sp>
          <p:nvSpPr>
            <p:cNvPr name="Freeform 5" id="5" descr="_lectu-logo-wordmark.png"/>
            <p:cNvSpPr/>
            <p:nvPr/>
          </p:nvSpPr>
          <p:spPr>
            <a:xfrm flipH="false" flipV="false" rot="0">
              <a:off x="0" y="0"/>
              <a:ext cx="1738757" cy="585724"/>
            </a:xfrm>
            <a:custGeom>
              <a:avLst/>
              <a:gdLst/>
              <a:ahLst/>
              <a:cxnLst/>
              <a:rect r="r" b="b" t="t" l="l"/>
              <a:pathLst>
                <a:path h="585724" w="1738757">
                  <a:moveTo>
                    <a:pt x="0" y="0"/>
                  </a:moveTo>
                  <a:lnTo>
                    <a:pt x="1738757" y="0"/>
                  </a:lnTo>
                  <a:lnTo>
                    <a:pt x="1738757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927" r="2" b="-791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20458" y="2333539"/>
            <a:ext cx="10432313" cy="6451559"/>
            <a:chOff x="0" y="0"/>
            <a:chExt cx="13909751" cy="86020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909802" cy="8602091"/>
            </a:xfrm>
            <a:custGeom>
              <a:avLst/>
              <a:gdLst/>
              <a:ahLst/>
              <a:cxnLst/>
              <a:rect r="r" b="b" t="t" l="l"/>
              <a:pathLst>
                <a:path h="8602091" w="13909802">
                  <a:moveTo>
                    <a:pt x="0" y="0"/>
                  </a:moveTo>
                  <a:lnTo>
                    <a:pt x="13909802" y="0"/>
                  </a:lnTo>
                  <a:lnTo>
                    <a:pt x="13909802" y="8602091"/>
                  </a:lnTo>
                  <a:lnTo>
                    <a:pt x="0" y="86020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411" t="0" r="-852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3608" y="3706216"/>
            <a:ext cx="823608" cy="47663"/>
            <a:chOff x="0" y="0"/>
            <a:chExt cx="1098144" cy="6355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8169" cy="63500"/>
            </a:xfrm>
            <a:custGeom>
              <a:avLst/>
              <a:gdLst/>
              <a:ahLst/>
              <a:cxnLst/>
              <a:rect r="r" b="b" t="t" l="l"/>
              <a:pathLst>
                <a:path h="63500" w="1098169">
                  <a:moveTo>
                    <a:pt x="0" y="0"/>
                  </a:moveTo>
                  <a:lnTo>
                    <a:pt x="1098169" y="0"/>
                  </a:lnTo>
                  <a:lnTo>
                    <a:pt x="1098169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654634" y="9677343"/>
            <a:ext cx="13726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05 · 16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608" y="1166774"/>
            <a:ext cx="16654634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PRODUCTION · 05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3608" y="1702451"/>
            <a:ext cx="6451559" cy="195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B0B0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In production at ENSIA</a:t>
            </a:r>
          </a:p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B0B0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since February 2026.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3608" y="4163739"/>
            <a:ext cx="3088510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B0B0F"/>
                </a:solidFill>
                <a:latin typeface="Inter Bold"/>
                <a:ea typeface="Inter Bold"/>
                <a:cs typeface="Inter Bold"/>
                <a:sym typeface="Inter Bold"/>
              </a:rPr>
              <a:t>1,480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3608" y="5183715"/>
            <a:ext cx="3088510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attendance records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18019" y="4163739"/>
            <a:ext cx="3088510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B0B0F"/>
                </a:solidFill>
                <a:latin typeface="Inter Bold"/>
                <a:ea typeface="Inter Bold"/>
                <a:cs typeface="Inter Bold"/>
                <a:sym typeface="Inter Bold"/>
              </a:rPr>
              <a:t>208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118019" y="5183715"/>
            <a:ext cx="3088510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distinct students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3608" y="6291377"/>
            <a:ext cx="3088510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B0B0F"/>
                </a:solidFill>
                <a:latin typeface="Inter Bold"/>
                <a:ea typeface="Inter Bold"/>
                <a:cs typeface="Inter Bold"/>
                <a:sym typeface="Inter Bold"/>
              </a:rPr>
              <a:t>76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23608" y="7311361"/>
            <a:ext cx="3088510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in 1 live quiz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18019" y="6291377"/>
            <a:ext cx="3088510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B0B0F"/>
                </a:solidFill>
                <a:latin typeface="Inter Bold"/>
                <a:ea typeface="Inter Bold"/>
                <a:cs typeface="Inter Bold"/>
                <a:sym typeface="Inter Bold"/>
              </a:rPr>
              <a:t>14,677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18019" y="7311361"/>
            <a:ext cx="3088510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notifications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23608" y="8409499"/>
            <a:ext cx="6451559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31 sessions  ·  510 device fingerprints  ·  18 justifications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3608" y="8958567"/>
            <a:ext cx="6451559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i="true">
                <a:solidFill>
                  <a:srgbClr val="0B0B0F"/>
                </a:solidFill>
                <a:latin typeface="Inter Italics"/>
                <a:ea typeface="Inter Italics"/>
                <a:cs typeface="Inter Italics"/>
                <a:sym typeface="Inter Italics"/>
              </a:rPr>
              <a:t>Pilot module: Machine Learning, 3rd Year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7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74202" y="480431"/>
            <a:ext cx="1304039" cy="439255"/>
            <a:chOff x="0" y="0"/>
            <a:chExt cx="1738719" cy="585673"/>
          </a:xfrm>
        </p:grpSpPr>
        <p:sp>
          <p:nvSpPr>
            <p:cNvPr name="Freeform 5" id="5" descr="_lectu-logo-wordmark.png"/>
            <p:cNvSpPr/>
            <p:nvPr/>
          </p:nvSpPr>
          <p:spPr>
            <a:xfrm flipH="false" flipV="false" rot="0">
              <a:off x="0" y="0"/>
              <a:ext cx="1738757" cy="585724"/>
            </a:xfrm>
            <a:custGeom>
              <a:avLst/>
              <a:gdLst/>
              <a:ahLst/>
              <a:cxnLst/>
              <a:rect r="r" b="b" t="t" l="l"/>
              <a:pathLst>
                <a:path h="585724" w="1738757">
                  <a:moveTo>
                    <a:pt x="0" y="0"/>
                  </a:moveTo>
                  <a:lnTo>
                    <a:pt x="1738757" y="0"/>
                  </a:lnTo>
                  <a:lnTo>
                    <a:pt x="1738757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927" r="2" b="-791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654634" y="9677343"/>
            <a:ext cx="13726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07 · 16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166774"/>
            <a:ext cx="16654634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DEFENSIBILITY · 07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3608" y="1692926"/>
            <a:ext cx="16654634" cy="196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3"/>
              </a:lnSpc>
            </a:pPr>
            <a:r>
              <a:rPr lang="en-US" sz="4203" b="true">
                <a:solidFill>
                  <a:srgbClr val="0B0B0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Algerian law made local hosting non-negotiable.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3608" y="2882608"/>
            <a:ext cx="1098137" cy="47663"/>
            <a:chOff x="0" y="0"/>
            <a:chExt cx="1464183" cy="635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4183" cy="63500"/>
            </a:xfrm>
            <a:custGeom>
              <a:avLst/>
              <a:gdLst/>
              <a:ahLst/>
              <a:cxnLst/>
              <a:rect r="r" b="b" t="t" l="l"/>
              <a:pathLst>
                <a:path h="63500" w="1464183">
                  <a:moveTo>
                    <a:pt x="0" y="0"/>
                  </a:moveTo>
                  <a:lnTo>
                    <a:pt x="1464183" y="0"/>
                  </a:lnTo>
                  <a:lnTo>
                    <a:pt x="1464183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18836" y="3701453"/>
            <a:ext cx="16664168" cy="1382201"/>
            <a:chOff x="0" y="0"/>
            <a:chExt cx="22218891" cy="18429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22206204" cy="1830197"/>
            </a:xfrm>
            <a:custGeom>
              <a:avLst/>
              <a:gdLst/>
              <a:ahLst/>
              <a:cxnLst/>
              <a:rect r="r" b="b" t="t" l="l"/>
              <a:pathLst>
                <a:path h="1830197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218904" cy="1842897"/>
            </a:xfrm>
            <a:custGeom>
              <a:avLst/>
              <a:gdLst/>
              <a:ahLst/>
              <a:cxnLst/>
              <a:rect r="r" b="b" t="t" l="l"/>
              <a:pathLst>
                <a:path h="1842897" w="22218904">
                  <a:moveTo>
                    <a:pt x="6350" y="0"/>
                  </a:moveTo>
                  <a:lnTo>
                    <a:pt x="22212554" y="0"/>
                  </a:lnTo>
                  <a:cubicBezTo>
                    <a:pt x="22216111" y="0"/>
                    <a:pt x="22218904" y="2794"/>
                    <a:pt x="22218904" y="6350"/>
                  </a:cubicBezTo>
                  <a:lnTo>
                    <a:pt x="22218904" y="1836547"/>
                  </a:lnTo>
                  <a:cubicBezTo>
                    <a:pt x="22218904" y="1840103"/>
                    <a:pt x="22216111" y="1842897"/>
                    <a:pt x="22212554" y="1842897"/>
                  </a:cubicBezTo>
                  <a:lnTo>
                    <a:pt x="6350" y="1842897"/>
                  </a:lnTo>
                  <a:cubicBezTo>
                    <a:pt x="2794" y="1842897"/>
                    <a:pt x="0" y="1840103"/>
                    <a:pt x="0" y="183654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836547"/>
                  </a:lnTo>
                  <a:lnTo>
                    <a:pt x="6350" y="1836547"/>
                  </a:lnTo>
                  <a:lnTo>
                    <a:pt x="6350" y="1830197"/>
                  </a:lnTo>
                  <a:lnTo>
                    <a:pt x="22212554" y="1830197"/>
                  </a:lnTo>
                  <a:lnTo>
                    <a:pt x="22212554" y="1836547"/>
                  </a:lnTo>
                  <a:lnTo>
                    <a:pt x="22206204" y="1836547"/>
                  </a:lnTo>
                  <a:lnTo>
                    <a:pt x="22206204" y="6350"/>
                  </a:lnTo>
                  <a:lnTo>
                    <a:pt x="22212554" y="6350"/>
                  </a:lnTo>
                  <a:lnTo>
                    <a:pt x="22212554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7C2B6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35402" y="3930386"/>
            <a:ext cx="315714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0B0B0F"/>
                </a:solidFill>
                <a:latin typeface="Inter Bold"/>
                <a:ea typeface="Inter Bold"/>
                <a:cs typeface="Inter Bold"/>
                <a:sym typeface="Inter Bold"/>
              </a:rPr>
              <a:t>Loi 18-07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392549" y="3920861"/>
            <a:ext cx="2196274" cy="39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i="true">
                <a:solidFill>
                  <a:srgbClr val="E26412"/>
                </a:solidFill>
                <a:latin typeface="Inter Italics"/>
                <a:ea typeface="Inter Italics"/>
                <a:cs typeface="Inter Italics"/>
                <a:sym typeface="Inter Italics"/>
              </a:rPr>
              <a:t>June 2018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5402" y="4428744"/>
            <a:ext cx="15785735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Personal data protection. Cross-border transfer requires ANPDP authorization. Penalties up to 5 years imprisonment.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18836" y="5211385"/>
            <a:ext cx="16664168" cy="1382201"/>
            <a:chOff x="0" y="0"/>
            <a:chExt cx="22218891" cy="18429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50" y="6350"/>
              <a:ext cx="22206204" cy="1830197"/>
            </a:xfrm>
            <a:custGeom>
              <a:avLst/>
              <a:gdLst/>
              <a:ahLst/>
              <a:cxnLst/>
              <a:rect r="r" b="b" t="t" l="l"/>
              <a:pathLst>
                <a:path h="1830197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218904" cy="1842897"/>
            </a:xfrm>
            <a:custGeom>
              <a:avLst/>
              <a:gdLst/>
              <a:ahLst/>
              <a:cxnLst/>
              <a:rect r="r" b="b" t="t" l="l"/>
              <a:pathLst>
                <a:path h="1842897" w="22218904">
                  <a:moveTo>
                    <a:pt x="6350" y="0"/>
                  </a:moveTo>
                  <a:lnTo>
                    <a:pt x="22212554" y="0"/>
                  </a:lnTo>
                  <a:cubicBezTo>
                    <a:pt x="22216111" y="0"/>
                    <a:pt x="22218904" y="2794"/>
                    <a:pt x="22218904" y="6350"/>
                  </a:cubicBezTo>
                  <a:lnTo>
                    <a:pt x="22218904" y="1836547"/>
                  </a:lnTo>
                  <a:cubicBezTo>
                    <a:pt x="22218904" y="1840103"/>
                    <a:pt x="22216111" y="1842897"/>
                    <a:pt x="22212554" y="1842897"/>
                  </a:cubicBezTo>
                  <a:lnTo>
                    <a:pt x="6350" y="1842897"/>
                  </a:lnTo>
                  <a:cubicBezTo>
                    <a:pt x="2794" y="1842897"/>
                    <a:pt x="0" y="1840103"/>
                    <a:pt x="0" y="183654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836547"/>
                  </a:lnTo>
                  <a:lnTo>
                    <a:pt x="6350" y="1836547"/>
                  </a:lnTo>
                  <a:lnTo>
                    <a:pt x="6350" y="1830197"/>
                  </a:lnTo>
                  <a:lnTo>
                    <a:pt x="22212554" y="1830197"/>
                  </a:lnTo>
                  <a:lnTo>
                    <a:pt x="22212554" y="1836547"/>
                  </a:lnTo>
                  <a:lnTo>
                    <a:pt x="22206204" y="1836547"/>
                  </a:lnTo>
                  <a:lnTo>
                    <a:pt x="22206204" y="6350"/>
                  </a:lnTo>
                  <a:lnTo>
                    <a:pt x="22212554" y="6350"/>
                  </a:lnTo>
                  <a:lnTo>
                    <a:pt x="22212554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7C2B6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35402" y="5440318"/>
            <a:ext cx="315714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0B0B0F"/>
                </a:solidFill>
                <a:latin typeface="Inter Bold"/>
                <a:ea typeface="Inter Bold"/>
                <a:cs typeface="Inter Bold"/>
                <a:sym typeface="Inter Bold"/>
              </a:rPr>
              <a:t>Law 22-39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92549" y="5430793"/>
            <a:ext cx="2196274" cy="39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i="true">
                <a:solidFill>
                  <a:srgbClr val="E26412"/>
                </a:solidFill>
                <a:latin typeface="Inter Italics"/>
                <a:ea typeface="Inter Italics"/>
                <a:cs typeface="Inter Italics"/>
                <a:sym typeface="Inter Italics"/>
              </a:rPr>
              <a:t>January 2022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5402" y="5938685"/>
            <a:ext cx="15785735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Public cloud providers must host on Algerian territory under ARPCE authorization.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18836" y="6721326"/>
            <a:ext cx="16664168" cy="1382201"/>
            <a:chOff x="0" y="0"/>
            <a:chExt cx="22218891" cy="184293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6350" y="6350"/>
              <a:ext cx="22206204" cy="1830197"/>
            </a:xfrm>
            <a:custGeom>
              <a:avLst/>
              <a:gdLst/>
              <a:ahLst/>
              <a:cxnLst/>
              <a:rect r="r" b="b" t="t" l="l"/>
              <a:pathLst>
                <a:path h="1830197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218904" cy="1842897"/>
            </a:xfrm>
            <a:custGeom>
              <a:avLst/>
              <a:gdLst/>
              <a:ahLst/>
              <a:cxnLst/>
              <a:rect r="r" b="b" t="t" l="l"/>
              <a:pathLst>
                <a:path h="1842897" w="22218904">
                  <a:moveTo>
                    <a:pt x="6350" y="0"/>
                  </a:moveTo>
                  <a:lnTo>
                    <a:pt x="22212554" y="0"/>
                  </a:lnTo>
                  <a:cubicBezTo>
                    <a:pt x="22216111" y="0"/>
                    <a:pt x="22218904" y="2794"/>
                    <a:pt x="22218904" y="6350"/>
                  </a:cubicBezTo>
                  <a:lnTo>
                    <a:pt x="22218904" y="1836547"/>
                  </a:lnTo>
                  <a:cubicBezTo>
                    <a:pt x="22218904" y="1840103"/>
                    <a:pt x="22216111" y="1842897"/>
                    <a:pt x="22212554" y="1842897"/>
                  </a:cubicBezTo>
                  <a:lnTo>
                    <a:pt x="6350" y="1842897"/>
                  </a:lnTo>
                  <a:cubicBezTo>
                    <a:pt x="2794" y="1842897"/>
                    <a:pt x="0" y="1840103"/>
                    <a:pt x="0" y="1836547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1836547"/>
                  </a:lnTo>
                  <a:lnTo>
                    <a:pt x="6350" y="1836547"/>
                  </a:lnTo>
                  <a:lnTo>
                    <a:pt x="6350" y="1830197"/>
                  </a:lnTo>
                  <a:lnTo>
                    <a:pt x="22212554" y="1830197"/>
                  </a:lnTo>
                  <a:lnTo>
                    <a:pt x="22212554" y="1836547"/>
                  </a:lnTo>
                  <a:lnTo>
                    <a:pt x="22206204" y="1836547"/>
                  </a:lnTo>
                  <a:lnTo>
                    <a:pt x="22206204" y="6350"/>
                  </a:lnTo>
                  <a:lnTo>
                    <a:pt x="22212554" y="6350"/>
                  </a:lnTo>
                  <a:lnTo>
                    <a:pt x="22212554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7C2B6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35402" y="6950259"/>
            <a:ext cx="3157147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0B0B0F"/>
                </a:solidFill>
                <a:latin typeface="Inter Bold"/>
                <a:ea typeface="Inter Bold"/>
                <a:cs typeface="Inter Bold"/>
                <a:sym typeface="Inter Bold"/>
              </a:rPr>
              <a:t>ANPDP active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392549" y="6940734"/>
            <a:ext cx="2196274" cy="39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i="true">
                <a:solidFill>
                  <a:srgbClr val="E26412"/>
                </a:solidFill>
                <a:latin typeface="Inter Italics"/>
                <a:ea typeface="Inter Italics"/>
                <a:cs typeface="Inter Italics"/>
                <a:sym typeface="Inter Italics"/>
              </a:rPr>
              <a:t>August 2022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5402" y="7448626"/>
            <a:ext cx="15785735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Law 11-25 (July 2025) tightens requirements further — mandatory DPO, processing records, DPIA.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23608" y="8419024"/>
            <a:ext cx="1665463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Foreign LMS — Google Classroom · Microsoft Teams · Canvas · Schoology — all process Algerian student data outside Algerian jurisdiction.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23608" y="9105357"/>
            <a:ext cx="1665463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b="true" sz="2101" i="true">
                <a:solidFill>
                  <a:srgbClr val="E26412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Lectu is the only platform built compliant by architecture.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7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74202" y="480431"/>
            <a:ext cx="1304039" cy="439255"/>
            <a:chOff x="0" y="0"/>
            <a:chExt cx="1738719" cy="585673"/>
          </a:xfrm>
        </p:grpSpPr>
        <p:sp>
          <p:nvSpPr>
            <p:cNvPr name="Freeform 5" id="5" descr="_lectu-logo-wordmark.png"/>
            <p:cNvSpPr/>
            <p:nvPr/>
          </p:nvSpPr>
          <p:spPr>
            <a:xfrm flipH="false" flipV="false" rot="0">
              <a:off x="0" y="0"/>
              <a:ext cx="1738757" cy="585724"/>
            </a:xfrm>
            <a:custGeom>
              <a:avLst/>
              <a:gdLst/>
              <a:ahLst/>
              <a:cxnLst/>
              <a:rect r="r" b="b" t="t" l="l"/>
              <a:pathLst>
                <a:path h="585724" w="1738757">
                  <a:moveTo>
                    <a:pt x="0" y="0"/>
                  </a:moveTo>
                  <a:lnTo>
                    <a:pt x="1738757" y="0"/>
                  </a:lnTo>
                  <a:lnTo>
                    <a:pt x="1738757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927" r="2" b="-791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654634" y="9677343"/>
            <a:ext cx="13726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08 · 16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166774"/>
            <a:ext cx="16654634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SOVEREIGNTY · 08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3608" y="1702451"/>
            <a:ext cx="16654634" cy="195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B0B0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Today: Microsoft Azure (Europe)</a:t>
            </a:r>
          </a:p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0B0B0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Tomorrow: Algerian-hosted infrastructure.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3608" y="3637578"/>
            <a:ext cx="1098137" cy="47663"/>
            <a:chOff x="0" y="0"/>
            <a:chExt cx="1464183" cy="635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4183" cy="63500"/>
            </a:xfrm>
            <a:custGeom>
              <a:avLst/>
              <a:gdLst/>
              <a:ahLst/>
              <a:cxnLst/>
              <a:rect r="r" b="b" t="t" l="l"/>
              <a:pathLst>
                <a:path h="63500" w="1464183">
                  <a:moveTo>
                    <a:pt x="0" y="0"/>
                  </a:moveTo>
                  <a:lnTo>
                    <a:pt x="1464183" y="0"/>
                  </a:lnTo>
                  <a:lnTo>
                    <a:pt x="1464183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23608" y="4428744"/>
            <a:ext cx="8167402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5B5B66"/>
                </a:solidFill>
                <a:latin typeface="Inter Bold"/>
                <a:ea typeface="Inter Bold"/>
                <a:cs typeface="Inter Bold"/>
                <a:sym typeface="Inter Bold"/>
              </a:rPr>
              <a:t>TODAY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3608" y="4918710"/>
            <a:ext cx="8167402" cy="265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Lectu currently runs on Microsoft Azure (European region) for development velocity. ENSIA's on-campus datacenter is currently saturated, so on-campus hosting wasn't available for the soft launch.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08706" y="4428744"/>
            <a:ext cx="8167402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TOMORROW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08706" y="4918710"/>
            <a:ext cx="8167402" cy="265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FastAPI + Postgres + Redis is portable by design. Migration to Algerian-hosted infrastructure is a one-week deployment, gated only on capacity availability.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09301" y="7809938"/>
            <a:ext cx="16683228" cy="1950339"/>
            <a:chOff x="0" y="0"/>
            <a:chExt cx="22244304" cy="26004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19050" y="19050"/>
              <a:ext cx="22206204" cy="2562352"/>
            </a:xfrm>
            <a:custGeom>
              <a:avLst/>
              <a:gdLst/>
              <a:ahLst/>
              <a:cxnLst/>
              <a:rect r="r" b="b" t="t" l="l"/>
              <a:pathLst>
                <a:path h="2562352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44304" cy="2600452"/>
            </a:xfrm>
            <a:custGeom>
              <a:avLst/>
              <a:gdLst/>
              <a:ahLst/>
              <a:cxnLst/>
              <a:rect r="r" b="b" t="t" l="l"/>
              <a:pathLst>
                <a:path h="2600452" w="22244304">
                  <a:moveTo>
                    <a:pt x="19050" y="0"/>
                  </a:moveTo>
                  <a:lnTo>
                    <a:pt x="22225254" y="0"/>
                  </a:lnTo>
                  <a:cubicBezTo>
                    <a:pt x="22235795" y="0"/>
                    <a:pt x="22244304" y="8509"/>
                    <a:pt x="22244304" y="19050"/>
                  </a:cubicBezTo>
                  <a:lnTo>
                    <a:pt x="22244304" y="2581402"/>
                  </a:lnTo>
                  <a:cubicBezTo>
                    <a:pt x="22244304" y="2591943"/>
                    <a:pt x="22235795" y="2600452"/>
                    <a:pt x="22225254" y="2600452"/>
                  </a:cubicBezTo>
                  <a:lnTo>
                    <a:pt x="19050" y="2600452"/>
                  </a:lnTo>
                  <a:cubicBezTo>
                    <a:pt x="8509" y="2600452"/>
                    <a:pt x="0" y="2591943"/>
                    <a:pt x="0" y="2581402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2581402"/>
                  </a:lnTo>
                  <a:lnTo>
                    <a:pt x="19050" y="2581402"/>
                  </a:lnTo>
                  <a:lnTo>
                    <a:pt x="19050" y="2562352"/>
                  </a:lnTo>
                  <a:lnTo>
                    <a:pt x="22225254" y="2562352"/>
                  </a:lnTo>
                  <a:lnTo>
                    <a:pt x="22225254" y="2581402"/>
                  </a:lnTo>
                  <a:lnTo>
                    <a:pt x="22206204" y="2581402"/>
                  </a:lnTo>
                  <a:lnTo>
                    <a:pt x="22206204" y="19050"/>
                  </a:lnTo>
                  <a:lnTo>
                    <a:pt x="22225254" y="19050"/>
                  </a:lnTo>
                  <a:lnTo>
                    <a:pt x="22225254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235402" y="8066332"/>
            <a:ext cx="15831026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WHAT WE'RE ASKING FROM ENSIA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5402" y="8556288"/>
            <a:ext cx="15831026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Help us secure on-campus hosting capacity, OR an introduction to an Algerian hosting partner (Algérie Telecom Cloud, ICOSnet, AventureCloudz). The technical migration is ready — what we need is the institutional resource.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7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74202" y="480431"/>
            <a:ext cx="1304039" cy="439255"/>
            <a:chOff x="0" y="0"/>
            <a:chExt cx="1738719" cy="585673"/>
          </a:xfrm>
        </p:grpSpPr>
        <p:sp>
          <p:nvSpPr>
            <p:cNvPr name="Freeform 5" id="5" descr="_lectu-logo-wordmark.png"/>
            <p:cNvSpPr/>
            <p:nvPr/>
          </p:nvSpPr>
          <p:spPr>
            <a:xfrm flipH="false" flipV="false" rot="0">
              <a:off x="0" y="0"/>
              <a:ext cx="1738757" cy="585724"/>
            </a:xfrm>
            <a:custGeom>
              <a:avLst/>
              <a:gdLst/>
              <a:ahLst/>
              <a:cxnLst/>
              <a:rect r="r" b="b" t="t" l="l"/>
              <a:pathLst>
                <a:path h="585724" w="1738757">
                  <a:moveTo>
                    <a:pt x="0" y="0"/>
                  </a:moveTo>
                  <a:lnTo>
                    <a:pt x="1738757" y="0"/>
                  </a:lnTo>
                  <a:lnTo>
                    <a:pt x="1738757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927" r="2" b="-791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654634" y="9677343"/>
            <a:ext cx="13726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09 · 16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166774"/>
            <a:ext cx="16654634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MARKET · 09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3608" y="1692926"/>
            <a:ext cx="16654634" cy="196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0B0B0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The Algerian higher-education market.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3608" y="2813980"/>
            <a:ext cx="1098137" cy="47663"/>
            <a:chOff x="0" y="0"/>
            <a:chExt cx="1464183" cy="635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4183" cy="63500"/>
            </a:xfrm>
            <a:custGeom>
              <a:avLst/>
              <a:gdLst/>
              <a:ahLst/>
              <a:cxnLst/>
              <a:rect r="r" b="b" t="t" l="l"/>
              <a:pathLst>
                <a:path h="63500" w="1464183">
                  <a:moveTo>
                    <a:pt x="0" y="0"/>
                  </a:moveTo>
                  <a:lnTo>
                    <a:pt x="1464183" y="0"/>
                  </a:lnTo>
                  <a:lnTo>
                    <a:pt x="1464183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23608" y="3605146"/>
            <a:ext cx="3431677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114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92549" y="3793112"/>
            <a:ext cx="12079519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universities + colleges nationally (~1.54M students)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3608" y="4497381"/>
            <a:ext cx="3431677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381,428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92549" y="4685357"/>
            <a:ext cx="12079519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new bac entrants in 2024 — 97.84% admission rate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3608" y="5389616"/>
            <a:ext cx="3431677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3302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11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392549" y="5577592"/>
            <a:ext cx="12079519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private HEIs + autonomous-budget grandes écoles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14073" y="6442024"/>
            <a:ext cx="8255098" cy="2352608"/>
            <a:chOff x="0" y="0"/>
            <a:chExt cx="11006798" cy="313681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2700" y="12700"/>
              <a:ext cx="10981436" cy="3111373"/>
            </a:xfrm>
            <a:custGeom>
              <a:avLst/>
              <a:gdLst/>
              <a:ahLst/>
              <a:cxnLst/>
              <a:rect r="r" b="b" t="t" l="l"/>
              <a:pathLst>
                <a:path h="3111373" w="10981436">
                  <a:moveTo>
                    <a:pt x="0" y="0"/>
                  </a:moveTo>
                  <a:lnTo>
                    <a:pt x="10981436" y="0"/>
                  </a:lnTo>
                  <a:lnTo>
                    <a:pt x="10981436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006836" cy="3136773"/>
            </a:xfrm>
            <a:custGeom>
              <a:avLst/>
              <a:gdLst/>
              <a:ahLst/>
              <a:cxnLst/>
              <a:rect r="r" b="b" t="t" l="l"/>
              <a:pathLst>
                <a:path h="3136773" w="11006836">
                  <a:moveTo>
                    <a:pt x="12700" y="0"/>
                  </a:moveTo>
                  <a:lnTo>
                    <a:pt x="10994136" y="0"/>
                  </a:lnTo>
                  <a:cubicBezTo>
                    <a:pt x="11001121" y="0"/>
                    <a:pt x="11006836" y="5715"/>
                    <a:pt x="11006836" y="12700"/>
                  </a:cubicBezTo>
                  <a:lnTo>
                    <a:pt x="11006836" y="3124073"/>
                  </a:lnTo>
                  <a:cubicBezTo>
                    <a:pt x="11006836" y="3131058"/>
                    <a:pt x="11001121" y="3136773"/>
                    <a:pt x="10994136" y="3136773"/>
                  </a:cubicBezTo>
                  <a:lnTo>
                    <a:pt x="12700" y="3136773"/>
                  </a:lnTo>
                  <a:cubicBezTo>
                    <a:pt x="5715" y="3136773"/>
                    <a:pt x="0" y="3131058"/>
                    <a:pt x="0" y="3124073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3124073"/>
                  </a:lnTo>
                  <a:lnTo>
                    <a:pt x="12700" y="3124073"/>
                  </a:lnTo>
                  <a:lnTo>
                    <a:pt x="12700" y="3111373"/>
                  </a:lnTo>
                  <a:lnTo>
                    <a:pt x="10994136" y="3111373"/>
                  </a:lnTo>
                  <a:lnTo>
                    <a:pt x="10994136" y="3124073"/>
                  </a:lnTo>
                  <a:lnTo>
                    <a:pt x="10981436" y="3124073"/>
                  </a:lnTo>
                  <a:lnTo>
                    <a:pt x="10981436" y="12700"/>
                  </a:lnTo>
                  <a:lnTo>
                    <a:pt x="10994136" y="12700"/>
                  </a:lnTo>
                  <a:lnTo>
                    <a:pt x="10994136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35402" y="6693656"/>
            <a:ext cx="7412431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BOTTOM-UP MARKET MATH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35402" y="7174087"/>
            <a:ext cx="7412431" cy="156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1.54M students × ~600 DZD avg = ~900M DZD/yr addressable.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Sidi Abdellah pole alone = ~20,000 students = up to 12M DZD ARR at full pole adoption.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83245" y="6693656"/>
            <a:ext cx="7549696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SIDI ABDELLAH POLE — OUR BEACHHEAD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883245" y="7183612"/>
            <a:ext cx="7549696" cy="2653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ENSIA  ~2,000 students  (us, 10% utilization)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NHSM (mathematics)  TBD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ESI Algiers (Oued Smar)  ~1,340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Pole expansion: 6+ grandes écoles by 2028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Designed for ~20,000 students total</a:t>
            </a:r>
          </a:p>
          <a:p>
            <a:pPr algn="l">
              <a:lnSpc>
                <a:spcPts val="1891"/>
              </a:lnSpc>
            </a:pPr>
            <a:r>
              <a:rPr lang="en-US" sz="157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85% smartphone penetration among DZ students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23608" y="9242622"/>
            <a:ext cx="1665463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i="true">
                <a:solidFill>
                  <a:srgbClr val="0B0B0F"/>
                </a:solidFill>
                <a:latin typeface="Inter Italics"/>
                <a:ea typeface="Inter Italics"/>
                <a:cs typeface="Inter Italics"/>
                <a:sym typeface="Inter Italics"/>
              </a:rPr>
              <a:t>We start with the cohort that already knows us.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7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74202" y="480431"/>
            <a:ext cx="1304039" cy="439255"/>
            <a:chOff x="0" y="0"/>
            <a:chExt cx="1738719" cy="585673"/>
          </a:xfrm>
        </p:grpSpPr>
        <p:sp>
          <p:nvSpPr>
            <p:cNvPr name="Freeform 5" id="5" descr="_lectu-logo-wordmark.png"/>
            <p:cNvSpPr/>
            <p:nvPr/>
          </p:nvSpPr>
          <p:spPr>
            <a:xfrm flipH="false" flipV="false" rot="0">
              <a:off x="0" y="0"/>
              <a:ext cx="1738757" cy="585724"/>
            </a:xfrm>
            <a:custGeom>
              <a:avLst/>
              <a:gdLst/>
              <a:ahLst/>
              <a:cxnLst/>
              <a:rect r="r" b="b" t="t" l="l"/>
              <a:pathLst>
                <a:path h="585724" w="1738757">
                  <a:moveTo>
                    <a:pt x="0" y="0"/>
                  </a:moveTo>
                  <a:lnTo>
                    <a:pt x="1738757" y="0"/>
                  </a:lnTo>
                  <a:lnTo>
                    <a:pt x="1738757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927" r="2" b="-791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654634" y="9677343"/>
            <a:ext cx="13726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10 · 16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166774"/>
            <a:ext cx="16654634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COMPETITION · 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3608" y="1692926"/>
            <a:ext cx="16654634" cy="196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0B0B0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What else is out there?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3608" y="2745343"/>
            <a:ext cx="1098137" cy="47663"/>
            <a:chOff x="0" y="0"/>
            <a:chExt cx="1464183" cy="635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4183" cy="63500"/>
            </a:xfrm>
            <a:custGeom>
              <a:avLst/>
              <a:gdLst/>
              <a:ahLst/>
              <a:cxnLst/>
              <a:rect r="r" b="b" t="t" l="l"/>
              <a:pathLst>
                <a:path h="63500" w="1464183">
                  <a:moveTo>
                    <a:pt x="0" y="0"/>
                  </a:moveTo>
                  <a:lnTo>
                    <a:pt x="1464183" y="0"/>
                  </a:lnTo>
                  <a:lnTo>
                    <a:pt x="1464183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23608" y="3399244"/>
            <a:ext cx="3157147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COMPETITOR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80755" y="3399244"/>
            <a:ext cx="2745343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WHAT IT DOES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26098" y="3399244"/>
            <a:ext cx="3294412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WHAT IT DOESN'T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20510" y="3399244"/>
            <a:ext cx="3157147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PRICING (~2,000 STUDENTS)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77657" y="3399244"/>
            <a:ext cx="425528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LECTU WINS ON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23608" y="4804353"/>
            <a:ext cx="16654634" cy="9535"/>
            <a:chOff x="0" y="0"/>
            <a:chExt cx="22206179" cy="127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206204" cy="12700"/>
            </a:xfrm>
            <a:custGeom>
              <a:avLst/>
              <a:gdLst/>
              <a:ahLst/>
              <a:cxnLst/>
              <a:rect r="r" b="b" t="t" l="l"/>
              <a:pathLst>
                <a:path h="12700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7C2B6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823608" y="4936636"/>
            <a:ext cx="3157147" cy="8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Moodle (UMBB, USTHB, M'sila)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80755" y="4936636"/>
            <a:ext cx="2745343" cy="8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Course materials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26098" y="4936636"/>
            <a:ext cx="3294412" cy="8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Documented unused for attendance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20510" y="4936636"/>
            <a:ext cx="3157147" cy="8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Free + IT staff cost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177657" y="4936636"/>
            <a:ext cx="4255284" cy="8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Actual classroom usage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23608" y="5792676"/>
            <a:ext cx="16654634" cy="9535"/>
            <a:chOff x="0" y="0"/>
            <a:chExt cx="22206179" cy="1271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206204" cy="12700"/>
            </a:xfrm>
            <a:custGeom>
              <a:avLst/>
              <a:gdLst/>
              <a:ahLst/>
              <a:cxnLst/>
              <a:rect r="r" b="b" t="t" l="l"/>
              <a:pathLst>
                <a:path h="12700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7C2B6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823608" y="5924960"/>
            <a:ext cx="3157147" cy="8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Google Classroom · Teams · Canvas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980755" y="5924960"/>
            <a:ext cx="2745343" cy="8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International features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26098" y="5924960"/>
            <a:ext cx="3294412" cy="8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Not Loi 18-07 compliant; USD-billed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20510" y="5924960"/>
            <a:ext cx="3157147" cy="8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$60–250k / yr (~8–33M DZD)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177657" y="5924960"/>
            <a:ext cx="4255284" cy="8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Loi 18-07 + DZD pricing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23608" y="6781000"/>
            <a:ext cx="16654634" cy="9535"/>
            <a:chOff x="0" y="0"/>
            <a:chExt cx="22206179" cy="1271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206204" cy="12700"/>
            </a:xfrm>
            <a:custGeom>
              <a:avLst/>
              <a:gdLst/>
              <a:ahLst/>
              <a:cxnLst/>
              <a:rect r="r" b="b" t="t" l="l"/>
              <a:pathLst>
                <a:path h="12700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7C2B6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823608" y="6913283"/>
            <a:ext cx="3157147" cy="8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Kahoot · Wooclap · Mentimeter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980755" y="6913283"/>
            <a:ext cx="2745343" cy="8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Live quizzes only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726098" y="6913283"/>
            <a:ext cx="3294412" cy="8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Per-teacher, no attendance, no DZD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20510" y="6913283"/>
            <a:ext cx="3157147" cy="8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~$30k / yr at institution scale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177657" y="6913283"/>
            <a:ext cx="4255284" cy="8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1"/>
              </a:lnSpc>
            </a:pPr>
            <a:r>
              <a:rPr lang="en-US" sz="14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All-in-one platform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823608" y="7769323"/>
            <a:ext cx="16654634" cy="9535"/>
            <a:chOff x="0" y="0"/>
            <a:chExt cx="22206179" cy="1271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206204" cy="12700"/>
            </a:xfrm>
            <a:custGeom>
              <a:avLst/>
              <a:gdLst/>
              <a:ahLst/>
              <a:cxnLst/>
              <a:rect r="r" b="b" t="t" l="l"/>
              <a:pathLst>
                <a:path h="12700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C7C2B6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14073" y="8020602"/>
            <a:ext cx="16673703" cy="979932"/>
            <a:chOff x="0" y="0"/>
            <a:chExt cx="22231604" cy="130657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12700" y="12700"/>
              <a:ext cx="22206204" cy="1281176"/>
            </a:xfrm>
            <a:custGeom>
              <a:avLst/>
              <a:gdLst/>
              <a:ahLst/>
              <a:cxnLst/>
              <a:rect r="r" b="b" t="t" l="l"/>
              <a:pathLst>
                <a:path h="1281176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1281176"/>
                  </a:lnTo>
                  <a:lnTo>
                    <a:pt x="0" y="1281176"/>
                  </a:ln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2231604" cy="1306576"/>
            </a:xfrm>
            <a:custGeom>
              <a:avLst/>
              <a:gdLst/>
              <a:ahLst/>
              <a:cxnLst/>
              <a:rect r="r" b="b" t="t" l="l"/>
              <a:pathLst>
                <a:path h="1306576" w="22231604">
                  <a:moveTo>
                    <a:pt x="12700" y="0"/>
                  </a:moveTo>
                  <a:lnTo>
                    <a:pt x="22218904" y="0"/>
                  </a:lnTo>
                  <a:cubicBezTo>
                    <a:pt x="22225890" y="0"/>
                    <a:pt x="22231604" y="5715"/>
                    <a:pt x="22231604" y="12700"/>
                  </a:cubicBezTo>
                  <a:lnTo>
                    <a:pt x="22231604" y="1293876"/>
                  </a:lnTo>
                  <a:cubicBezTo>
                    <a:pt x="22231604" y="1300861"/>
                    <a:pt x="22225890" y="1306576"/>
                    <a:pt x="22218904" y="1306576"/>
                  </a:cubicBezTo>
                  <a:lnTo>
                    <a:pt x="12700" y="1306576"/>
                  </a:lnTo>
                  <a:cubicBezTo>
                    <a:pt x="5715" y="1306576"/>
                    <a:pt x="0" y="1300861"/>
                    <a:pt x="0" y="1293876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93876"/>
                  </a:lnTo>
                  <a:lnTo>
                    <a:pt x="12700" y="1293876"/>
                  </a:lnTo>
                  <a:lnTo>
                    <a:pt x="12700" y="1281176"/>
                  </a:lnTo>
                  <a:lnTo>
                    <a:pt x="22218904" y="1281176"/>
                  </a:lnTo>
                  <a:lnTo>
                    <a:pt x="22218904" y="1293876"/>
                  </a:lnTo>
                  <a:lnTo>
                    <a:pt x="22206204" y="1293876"/>
                  </a:lnTo>
                  <a:lnTo>
                    <a:pt x="22206204" y="12700"/>
                  </a:lnTo>
                  <a:lnTo>
                    <a:pt x="22218904" y="12700"/>
                  </a:lnTo>
                  <a:lnTo>
                    <a:pt x="22218904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235402" y="8244773"/>
            <a:ext cx="15831026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i="true">
                <a:solidFill>
                  <a:srgbClr val="0B0B0F"/>
                </a:solidFill>
                <a:latin typeface="Inter Italics"/>
                <a:ea typeface="Inter Italics"/>
                <a:cs typeface="Inter Italics"/>
                <a:sym typeface="Inter Italics"/>
              </a:rPr>
              <a:t>"This service is horrible, it never works, and when it does work, it shows grades for a certain time then stops working." — Apple App Store review of Progres, 2024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23608" y="9233097"/>
            <a:ext cx="16654634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i="true">
                <a:solidFill>
                  <a:srgbClr val="0B0B0F"/>
                </a:solidFill>
                <a:latin typeface="Inter Italics"/>
                <a:ea typeface="Inter Italics"/>
                <a:cs typeface="Inter Italics"/>
                <a:sym typeface="Inter Italics"/>
              </a:rPr>
              <a:t>Lectu = 1,000,000 DZD / year. 10–30× cheaper than enterprise LMS, and the only DZ-native product that covers attendance + quizzes + grades + LMS.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7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74202" y="480431"/>
            <a:ext cx="1304039" cy="439255"/>
            <a:chOff x="0" y="0"/>
            <a:chExt cx="1738719" cy="585673"/>
          </a:xfrm>
        </p:grpSpPr>
        <p:sp>
          <p:nvSpPr>
            <p:cNvPr name="Freeform 5" id="5" descr="_lectu-logo-wordmark.png"/>
            <p:cNvSpPr/>
            <p:nvPr/>
          </p:nvSpPr>
          <p:spPr>
            <a:xfrm flipH="false" flipV="false" rot="0">
              <a:off x="0" y="0"/>
              <a:ext cx="1738757" cy="585724"/>
            </a:xfrm>
            <a:custGeom>
              <a:avLst/>
              <a:gdLst/>
              <a:ahLst/>
              <a:cxnLst/>
              <a:rect r="r" b="b" t="t" l="l"/>
              <a:pathLst>
                <a:path h="585724" w="1738757">
                  <a:moveTo>
                    <a:pt x="0" y="0"/>
                  </a:moveTo>
                  <a:lnTo>
                    <a:pt x="1738757" y="0"/>
                  </a:lnTo>
                  <a:lnTo>
                    <a:pt x="1738757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927" r="2" b="-791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654634" y="9677343"/>
            <a:ext cx="13726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11 · 16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166774"/>
            <a:ext cx="16654634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PRICING · 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3608" y="1692926"/>
            <a:ext cx="16654634" cy="196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0B0B0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Per-school annual flat license.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3608" y="2745343"/>
            <a:ext cx="1098137" cy="47663"/>
            <a:chOff x="0" y="0"/>
            <a:chExt cx="1464183" cy="635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4183" cy="63500"/>
            </a:xfrm>
            <a:custGeom>
              <a:avLst/>
              <a:gdLst/>
              <a:ahLst/>
              <a:cxnLst/>
              <a:rect r="r" b="b" t="t" l="l"/>
              <a:pathLst>
                <a:path h="63500" w="1464183">
                  <a:moveTo>
                    <a:pt x="0" y="0"/>
                  </a:moveTo>
                  <a:lnTo>
                    <a:pt x="1464183" y="0"/>
                  </a:lnTo>
                  <a:lnTo>
                    <a:pt x="1464183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16342" y="3687147"/>
            <a:ext cx="8068266" cy="4979746"/>
            <a:chOff x="0" y="0"/>
            <a:chExt cx="10757687" cy="66396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25400" y="25400"/>
              <a:ext cx="10706862" cy="6588887"/>
            </a:xfrm>
            <a:custGeom>
              <a:avLst/>
              <a:gdLst/>
              <a:ahLst/>
              <a:cxnLst/>
              <a:rect r="r" b="b" t="t" l="l"/>
              <a:pathLst>
                <a:path h="6588887" w="10706862">
                  <a:moveTo>
                    <a:pt x="0" y="0"/>
                  </a:moveTo>
                  <a:lnTo>
                    <a:pt x="10706862" y="0"/>
                  </a:lnTo>
                  <a:lnTo>
                    <a:pt x="10706862" y="6588887"/>
                  </a:lnTo>
                  <a:lnTo>
                    <a:pt x="0" y="6588887"/>
                  </a:ln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57662" cy="6639687"/>
            </a:xfrm>
            <a:custGeom>
              <a:avLst/>
              <a:gdLst/>
              <a:ahLst/>
              <a:cxnLst/>
              <a:rect r="r" b="b" t="t" l="l"/>
              <a:pathLst>
                <a:path h="6639687" w="10757662">
                  <a:moveTo>
                    <a:pt x="25400" y="0"/>
                  </a:moveTo>
                  <a:lnTo>
                    <a:pt x="10732262" y="0"/>
                  </a:lnTo>
                  <a:cubicBezTo>
                    <a:pt x="10746359" y="0"/>
                    <a:pt x="10757662" y="11430"/>
                    <a:pt x="10757662" y="25400"/>
                  </a:cubicBezTo>
                  <a:lnTo>
                    <a:pt x="10757662" y="6614287"/>
                  </a:lnTo>
                  <a:cubicBezTo>
                    <a:pt x="10757662" y="6628384"/>
                    <a:pt x="10746232" y="6639687"/>
                    <a:pt x="10732262" y="6639687"/>
                  </a:cubicBezTo>
                  <a:lnTo>
                    <a:pt x="25400" y="6639687"/>
                  </a:lnTo>
                  <a:cubicBezTo>
                    <a:pt x="11303" y="6639687"/>
                    <a:pt x="0" y="6628257"/>
                    <a:pt x="0" y="6614287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6614287"/>
                  </a:lnTo>
                  <a:lnTo>
                    <a:pt x="25400" y="6614287"/>
                  </a:lnTo>
                  <a:lnTo>
                    <a:pt x="25400" y="6588887"/>
                  </a:lnTo>
                  <a:lnTo>
                    <a:pt x="10732262" y="6588887"/>
                  </a:lnTo>
                  <a:lnTo>
                    <a:pt x="10732262" y="6614287"/>
                  </a:lnTo>
                  <a:lnTo>
                    <a:pt x="10706862" y="6614287"/>
                  </a:lnTo>
                  <a:lnTo>
                    <a:pt x="10706862" y="25400"/>
                  </a:lnTo>
                  <a:lnTo>
                    <a:pt x="10732262" y="25400"/>
                  </a:lnTo>
                  <a:lnTo>
                    <a:pt x="10732262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35402" y="4291479"/>
            <a:ext cx="8030137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GRANDES ÉCOLES &amp; SMALL UNIVERSITIES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5402" y="4909185"/>
            <a:ext cx="8030137" cy="129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 b="true">
                <a:solidFill>
                  <a:srgbClr val="0B0B0F"/>
                </a:solidFill>
                <a:latin typeface="Inter Bold"/>
                <a:ea typeface="Inter Bold"/>
                <a:cs typeface="Inter Bold"/>
                <a:sym typeface="Inter Bold"/>
              </a:rPr>
              <a:t>1,000,000 DZD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5402" y="6497279"/>
            <a:ext cx="803013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i="true">
                <a:solidFill>
                  <a:srgbClr val="5B5B66"/>
                </a:solidFill>
                <a:latin typeface="Inter Italics"/>
                <a:ea typeface="Inter Italics"/>
                <a:cs typeface="Inter Italics"/>
                <a:sym typeface="Inter Italics"/>
              </a:rPr>
              <a:t>per year · all-inclusive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5402" y="7183612"/>
            <a:ext cx="803013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&lt; 2,000 students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667808" y="3696681"/>
            <a:ext cx="8049196" cy="4960687"/>
            <a:chOff x="0" y="0"/>
            <a:chExt cx="10732262" cy="661424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2700" y="12700"/>
              <a:ext cx="10706862" cy="6588887"/>
            </a:xfrm>
            <a:custGeom>
              <a:avLst/>
              <a:gdLst/>
              <a:ahLst/>
              <a:cxnLst/>
              <a:rect r="r" b="b" t="t" l="l"/>
              <a:pathLst>
                <a:path h="6588887" w="10706862">
                  <a:moveTo>
                    <a:pt x="0" y="0"/>
                  </a:moveTo>
                  <a:lnTo>
                    <a:pt x="10706862" y="0"/>
                  </a:lnTo>
                  <a:lnTo>
                    <a:pt x="10706862" y="6588887"/>
                  </a:lnTo>
                  <a:lnTo>
                    <a:pt x="0" y="6588887"/>
                  </a:ln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32262" cy="6614287"/>
            </a:xfrm>
            <a:custGeom>
              <a:avLst/>
              <a:gdLst/>
              <a:ahLst/>
              <a:cxnLst/>
              <a:rect r="r" b="b" t="t" l="l"/>
              <a:pathLst>
                <a:path h="6614287" w="10732262">
                  <a:moveTo>
                    <a:pt x="12700" y="0"/>
                  </a:moveTo>
                  <a:lnTo>
                    <a:pt x="10719562" y="0"/>
                  </a:lnTo>
                  <a:cubicBezTo>
                    <a:pt x="10726547" y="0"/>
                    <a:pt x="10732262" y="5715"/>
                    <a:pt x="10732262" y="12700"/>
                  </a:cubicBezTo>
                  <a:lnTo>
                    <a:pt x="10732262" y="6601587"/>
                  </a:lnTo>
                  <a:cubicBezTo>
                    <a:pt x="10732262" y="6608572"/>
                    <a:pt x="10726547" y="6614287"/>
                    <a:pt x="10719562" y="6614287"/>
                  </a:cubicBezTo>
                  <a:lnTo>
                    <a:pt x="12700" y="6614287"/>
                  </a:lnTo>
                  <a:cubicBezTo>
                    <a:pt x="5715" y="6614287"/>
                    <a:pt x="0" y="6608572"/>
                    <a:pt x="0" y="6601587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6601587"/>
                  </a:lnTo>
                  <a:lnTo>
                    <a:pt x="12700" y="6601587"/>
                  </a:lnTo>
                  <a:lnTo>
                    <a:pt x="12700" y="6588887"/>
                  </a:lnTo>
                  <a:lnTo>
                    <a:pt x="10719562" y="6588887"/>
                  </a:lnTo>
                  <a:lnTo>
                    <a:pt x="10719562" y="6601587"/>
                  </a:lnTo>
                  <a:lnTo>
                    <a:pt x="10706862" y="6601587"/>
                  </a:lnTo>
                  <a:lnTo>
                    <a:pt x="10706862" y="12700"/>
                  </a:lnTo>
                  <a:lnTo>
                    <a:pt x="10719562" y="12700"/>
                  </a:lnTo>
                  <a:lnTo>
                    <a:pt x="10719562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C7C2B6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677343" y="4291479"/>
            <a:ext cx="8030137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5B5B66"/>
                </a:solidFill>
                <a:latin typeface="Inter Bold"/>
                <a:ea typeface="Inter Bold"/>
                <a:cs typeface="Inter Bold"/>
                <a:sym typeface="Inter Bold"/>
              </a:rPr>
              <a:t>LARGER UNIVERSITIES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77343" y="4909185"/>
            <a:ext cx="8030137" cy="129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6"/>
              </a:lnSpc>
            </a:pPr>
            <a:r>
              <a:rPr lang="en-US" sz="6605" b="true">
                <a:solidFill>
                  <a:srgbClr val="0B0B0F"/>
                </a:solidFill>
                <a:latin typeface="Inter Bold"/>
                <a:ea typeface="Inter Bold"/>
                <a:cs typeface="Inter Bold"/>
                <a:sym typeface="Inter Bold"/>
              </a:rPr>
              <a:t>Custom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77343" y="6497279"/>
            <a:ext cx="803013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i="true">
                <a:solidFill>
                  <a:srgbClr val="5B5B66"/>
                </a:solidFill>
                <a:latin typeface="Inter Italics"/>
                <a:ea typeface="Inter Italics"/>
                <a:cs typeface="Inter Italics"/>
                <a:sym typeface="Inter Italics"/>
              </a:rPr>
              <a:t>pricing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77343" y="7183612"/>
            <a:ext cx="8030137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&gt; 2,000 students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23608" y="9095832"/>
            <a:ext cx="16654634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All features  ·  Unlimited users  ·  Hosted in Algeria  ·  Fr / Ar localization  ·  Onboarding + training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3608" y="9654426"/>
            <a:ext cx="16654634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i="true">
                <a:solidFill>
                  <a:srgbClr val="5B5B66"/>
                </a:solidFill>
                <a:latin typeface="Inter Italics"/>
                <a:ea typeface="Inter Italics"/>
                <a:cs typeface="Inter Italics"/>
                <a:sym typeface="Inter Italics"/>
              </a:rPr>
              <a:t>No per-seat fees. No per-feature gating. Annual budget cycle aligned.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7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74202" y="480431"/>
            <a:ext cx="1304039" cy="439255"/>
            <a:chOff x="0" y="0"/>
            <a:chExt cx="1738719" cy="585673"/>
          </a:xfrm>
        </p:grpSpPr>
        <p:sp>
          <p:nvSpPr>
            <p:cNvPr name="Freeform 5" id="5" descr="_lectu-logo-wordmark.png"/>
            <p:cNvSpPr/>
            <p:nvPr/>
          </p:nvSpPr>
          <p:spPr>
            <a:xfrm flipH="false" flipV="false" rot="0">
              <a:off x="0" y="0"/>
              <a:ext cx="1738757" cy="585724"/>
            </a:xfrm>
            <a:custGeom>
              <a:avLst/>
              <a:gdLst/>
              <a:ahLst/>
              <a:cxnLst/>
              <a:rect r="r" b="b" t="t" l="l"/>
              <a:pathLst>
                <a:path h="585724" w="1738757">
                  <a:moveTo>
                    <a:pt x="0" y="0"/>
                  </a:moveTo>
                  <a:lnTo>
                    <a:pt x="1738757" y="0"/>
                  </a:lnTo>
                  <a:lnTo>
                    <a:pt x="1738757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927" r="2" b="-791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654634" y="9677343"/>
            <a:ext cx="13726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12 · 16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166774"/>
            <a:ext cx="16654634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ROADMAP · 12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1301212" y="4667088"/>
            <a:ext cx="6451559" cy="4118019"/>
            <a:chOff x="0" y="0"/>
            <a:chExt cx="8602078" cy="5490693"/>
          </a:xfrm>
        </p:grpSpPr>
        <p:sp>
          <p:nvSpPr>
            <p:cNvPr name="Freeform 9" id="9" descr="31-admin-timetable-editor.png"/>
            <p:cNvSpPr/>
            <p:nvPr/>
          </p:nvSpPr>
          <p:spPr>
            <a:xfrm flipH="false" flipV="false" rot="0">
              <a:off x="0" y="0"/>
              <a:ext cx="8602091" cy="5490718"/>
            </a:xfrm>
            <a:custGeom>
              <a:avLst/>
              <a:gdLst/>
              <a:ahLst/>
              <a:cxnLst/>
              <a:rect r="r" b="b" t="t" l="l"/>
              <a:pathLst>
                <a:path h="5490718" w="8602091">
                  <a:moveTo>
                    <a:pt x="0" y="0"/>
                  </a:moveTo>
                  <a:lnTo>
                    <a:pt x="8602091" y="0"/>
                  </a:lnTo>
                  <a:lnTo>
                    <a:pt x="8602091" y="5490718"/>
                  </a:lnTo>
                  <a:lnTo>
                    <a:pt x="0" y="54907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063" t="0" r="-1063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23608" y="1692926"/>
            <a:ext cx="10981382" cy="196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0B0B0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Two-year horizon.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23608" y="2745343"/>
            <a:ext cx="1098137" cy="47663"/>
            <a:chOff x="0" y="0"/>
            <a:chExt cx="1464183" cy="635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4183" cy="63500"/>
            </a:xfrm>
            <a:custGeom>
              <a:avLst/>
              <a:gdLst/>
              <a:ahLst/>
              <a:cxnLst/>
              <a:rect r="r" b="b" t="t" l="l"/>
              <a:pathLst>
                <a:path h="63500" w="1464183">
                  <a:moveTo>
                    <a:pt x="0" y="0"/>
                  </a:moveTo>
                  <a:lnTo>
                    <a:pt x="1464183" y="0"/>
                  </a:lnTo>
                  <a:lnTo>
                    <a:pt x="1464183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23608" y="3751936"/>
            <a:ext cx="219627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Phase 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3608" y="4291479"/>
            <a:ext cx="3294412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i="true">
                <a:solidFill>
                  <a:srgbClr val="5B5B66"/>
                </a:solidFill>
                <a:latin typeface="Inter Italics"/>
                <a:ea typeface="Inter Italics"/>
                <a:cs typeface="Inter Italics"/>
                <a:sym typeface="Inter Italics"/>
              </a:rPr>
              <a:t>Now → Sept 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80755" y="3751936"/>
            <a:ext cx="6314294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Activate all 7 ENSIA modules. Pull all 67 teachers into active use. Migrate to Algerian hosting.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23608" y="5193240"/>
            <a:ext cx="219627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Phase 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3608" y="5732783"/>
            <a:ext cx="3294412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i="true">
                <a:solidFill>
                  <a:srgbClr val="5B5B66"/>
                </a:solidFill>
                <a:latin typeface="Inter Italics"/>
                <a:ea typeface="Inter Italics"/>
                <a:cs typeface="Inter Italics"/>
                <a:sym typeface="Inter Italics"/>
              </a:rPr>
              <a:t>Sept 2026 → Sept 2027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980755" y="5193240"/>
            <a:ext cx="6314294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Sidi Abdellah pole expansion. Target: 3 schools live (ENSIA + 2 pole partners).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3608" y="6634544"/>
            <a:ext cx="219627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Phase 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3608" y="7174087"/>
            <a:ext cx="3294412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i="true">
                <a:solidFill>
                  <a:srgbClr val="5B5B66"/>
                </a:solidFill>
                <a:latin typeface="Inter Italics"/>
                <a:ea typeface="Inter Italics"/>
                <a:cs typeface="Inter Italics"/>
                <a:sym typeface="Inter Italics"/>
              </a:rPr>
              <a:t>Sept 2027 → Sept 2028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980755" y="6634544"/>
            <a:ext cx="6314294" cy="1143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7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Other DZ grandes écoles (Polytechnique, ESAA) + select public universities.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3608" y="9105357"/>
            <a:ext cx="10295039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1"/>
              </a:lnSpc>
            </a:pPr>
            <a:r>
              <a:rPr lang="en-US" sz="1576" i="true">
                <a:solidFill>
                  <a:srgbClr val="5B5B66"/>
                </a:solidFill>
                <a:latin typeface="Inter Italics"/>
                <a:ea typeface="Inter Italics"/>
                <a:cs typeface="Inter Italics"/>
                <a:sym typeface="Inter Italics"/>
              </a:rPr>
              <a:t>International expansion is explicitly out of scope for 24 months.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7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74202" y="480431"/>
            <a:ext cx="1304039" cy="439255"/>
            <a:chOff x="0" y="0"/>
            <a:chExt cx="1738719" cy="585673"/>
          </a:xfrm>
        </p:grpSpPr>
        <p:sp>
          <p:nvSpPr>
            <p:cNvPr name="Freeform 5" id="5" descr="_lectu-logo-wordmark.png"/>
            <p:cNvSpPr/>
            <p:nvPr/>
          </p:nvSpPr>
          <p:spPr>
            <a:xfrm flipH="false" flipV="false" rot="0">
              <a:off x="0" y="0"/>
              <a:ext cx="1738757" cy="585724"/>
            </a:xfrm>
            <a:custGeom>
              <a:avLst/>
              <a:gdLst/>
              <a:ahLst/>
              <a:cxnLst/>
              <a:rect r="r" b="b" t="t" l="l"/>
              <a:pathLst>
                <a:path h="585724" w="1738757">
                  <a:moveTo>
                    <a:pt x="0" y="0"/>
                  </a:moveTo>
                  <a:lnTo>
                    <a:pt x="1738757" y="0"/>
                  </a:lnTo>
                  <a:lnTo>
                    <a:pt x="1738757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927" r="2" b="-791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654634" y="9677343"/>
            <a:ext cx="13726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13 · 16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166774"/>
            <a:ext cx="16654634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LOOKING AHEAD · 13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3608" y="1692926"/>
            <a:ext cx="16654634" cy="196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0B0B0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Looking ahead — two horizons.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3608" y="2745343"/>
            <a:ext cx="1098137" cy="47663"/>
            <a:chOff x="0" y="0"/>
            <a:chExt cx="1464183" cy="635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4183" cy="63500"/>
            </a:xfrm>
            <a:custGeom>
              <a:avLst/>
              <a:gdLst/>
              <a:ahLst/>
              <a:cxnLst/>
              <a:rect r="r" b="b" t="t" l="l"/>
              <a:pathLst>
                <a:path h="63500" w="1464183">
                  <a:moveTo>
                    <a:pt x="0" y="0"/>
                  </a:moveTo>
                  <a:lnTo>
                    <a:pt x="1464183" y="0"/>
                  </a:lnTo>
                  <a:lnTo>
                    <a:pt x="1464183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18836" y="3701453"/>
            <a:ext cx="16664168" cy="2343074"/>
            <a:chOff x="0" y="0"/>
            <a:chExt cx="22218891" cy="31240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22206204" cy="3111373"/>
            </a:xfrm>
            <a:custGeom>
              <a:avLst/>
              <a:gdLst/>
              <a:ahLst/>
              <a:cxnLst/>
              <a:rect r="r" b="b" t="t" l="l"/>
              <a:pathLst>
                <a:path h="3111373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3111373"/>
                  </a:lnTo>
                  <a:lnTo>
                    <a:pt x="0" y="3111373"/>
                  </a:ln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218904" cy="3124073"/>
            </a:xfrm>
            <a:custGeom>
              <a:avLst/>
              <a:gdLst/>
              <a:ahLst/>
              <a:cxnLst/>
              <a:rect r="r" b="b" t="t" l="l"/>
              <a:pathLst>
                <a:path h="3124073" w="22218904">
                  <a:moveTo>
                    <a:pt x="6350" y="0"/>
                  </a:moveTo>
                  <a:lnTo>
                    <a:pt x="22212554" y="0"/>
                  </a:lnTo>
                  <a:cubicBezTo>
                    <a:pt x="22216111" y="0"/>
                    <a:pt x="22218904" y="2794"/>
                    <a:pt x="22218904" y="6350"/>
                  </a:cubicBezTo>
                  <a:lnTo>
                    <a:pt x="22218904" y="3117723"/>
                  </a:lnTo>
                  <a:cubicBezTo>
                    <a:pt x="22218904" y="3121279"/>
                    <a:pt x="22216111" y="3124073"/>
                    <a:pt x="22212554" y="3124073"/>
                  </a:cubicBezTo>
                  <a:lnTo>
                    <a:pt x="6350" y="3124073"/>
                  </a:lnTo>
                  <a:cubicBezTo>
                    <a:pt x="2794" y="3124073"/>
                    <a:pt x="0" y="3121279"/>
                    <a:pt x="0" y="311772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3117723"/>
                  </a:lnTo>
                  <a:lnTo>
                    <a:pt x="6350" y="3117723"/>
                  </a:lnTo>
                  <a:lnTo>
                    <a:pt x="6350" y="3111373"/>
                  </a:lnTo>
                  <a:lnTo>
                    <a:pt x="22212554" y="3111373"/>
                  </a:lnTo>
                  <a:lnTo>
                    <a:pt x="22212554" y="3117723"/>
                  </a:lnTo>
                  <a:lnTo>
                    <a:pt x="22206204" y="3117723"/>
                  </a:lnTo>
                  <a:lnTo>
                    <a:pt x="22206204" y="6350"/>
                  </a:lnTo>
                  <a:lnTo>
                    <a:pt x="22212554" y="6350"/>
                  </a:lnTo>
                  <a:lnTo>
                    <a:pt x="22212554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7C2B6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35402" y="4026475"/>
            <a:ext cx="1029503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0B0B0F"/>
                </a:solidFill>
                <a:latin typeface="Inter Bold"/>
                <a:ea typeface="Inter Bold"/>
                <a:cs typeface="Inter Bold"/>
                <a:sym typeface="Inter Bold"/>
              </a:rPr>
              <a:t>NATIVE MOBILE APPS (iOS + Android)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67715" y="4016950"/>
            <a:ext cx="5490686" cy="39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i="true">
                <a:solidFill>
                  <a:srgbClr val="E26412"/>
                </a:solidFill>
                <a:latin typeface="Inter Italics"/>
                <a:ea typeface="Inter Italics"/>
                <a:cs typeface="Inter Italics"/>
                <a:sym typeface="Inter Italics"/>
              </a:rPr>
              <a:t>2026–27 academic year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5402" y="4703283"/>
            <a:ext cx="15831026" cy="1153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A native mobile app on both platforms — primary goal: limit cheating attempts in lecture attendance. Hardware-bound device IDs, real-time push, offline-first check-in.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09301" y="6299997"/>
            <a:ext cx="16683228" cy="3323015"/>
            <a:chOff x="0" y="0"/>
            <a:chExt cx="22244304" cy="44306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9050" y="19050"/>
              <a:ext cx="22206204" cy="4392549"/>
            </a:xfrm>
            <a:custGeom>
              <a:avLst/>
              <a:gdLst/>
              <a:ahLst/>
              <a:cxnLst/>
              <a:rect r="r" b="b" t="t" l="l"/>
              <a:pathLst>
                <a:path h="4392549" w="22206204">
                  <a:moveTo>
                    <a:pt x="0" y="0"/>
                  </a:moveTo>
                  <a:lnTo>
                    <a:pt x="22206204" y="0"/>
                  </a:lnTo>
                  <a:lnTo>
                    <a:pt x="22206204" y="4392549"/>
                  </a:lnTo>
                  <a:lnTo>
                    <a:pt x="0" y="4392549"/>
                  </a:ln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244304" cy="4430649"/>
            </a:xfrm>
            <a:custGeom>
              <a:avLst/>
              <a:gdLst/>
              <a:ahLst/>
              <a:cxnLst/>
              <a:rect r="r" b="b" t="t" l="l"/>
              <a:pathLst>
                <a:path h="4430649" w="22244304">
                  <a:moveTo>
                    <a:pt x="19050" y="0"/>
                  </a:moveTo>
                  <a:lnTo>
                    <a:pt x="22225254" y="0"/>
                  </a:lnTo>
                  <a:cubicBezTo>
                    <a:pt x="22235795" y="0"/>
                    <a:pt x="22244304" y="8509"/>
                    <a:pt x="22244304" y="19050"/>
                  </a:cubicBezTo>
                  <a:lnTo>
                    <a:pt x="22244304" y="4411599"/>
                  </a:lnTo>
                  <a:cubicBezTo>
                    <a:pt x="22244304" y="4422140"/>
                    <a:pt x="22235795" y="4430649"/>
                    <a:pt x="22225254" y="4430649"/>
                  </a:cubicBezTo>
                  <a:lnTo>
                    <a:pt x="19050" y="4430649"/>
                  </a:lnTo>
                  <a:cubicBezTo>
                    <a:pt x="8509" y="4430649"/>
                    <a:pt x="0" y="4422140"/>
                    <a:pt x="0" y="4411599"/>
                  </a:cubicBezTo>
                  <a:lnTo>
                    <a:pt x="0" y="19050"/>
                  </a:lnTo>
                  <a:cubicBezTo>
                    <a:pt x="0" y="8509"/>
                    <a:pt x="8509" y="0"/>
                    <a:pt x="19050" y="0"/>
                  </a:cubicBezTo>
                  <a:moveTo>
                    <a:pt x="19050" y="38100"/>
                  </a:moveTo>
                  <a:lnTo>
                    <a:pt x="19050" y="19050"/>
                  </a:lnTo>
                  <a:lnTo>
                    <a:pt x="38100" y="19050"/>
                  </a:lnTo>
                  <a:lnTo>
                    <a:pt x="38100" y="4411599"/>
                  </a:lnTo>
                  <a:lnTo>
                    <a:pt x="19050" y="4411599"/>
                  </a:lnTo>
                  <a:lnTo>
                    <a:pt x="19050" y="4392549"/>
                  </a:lnTo>
                  <a:lnTo>
                    <a:pt x="22225254" y="4392549"/>
                  </a:lnTo>
                  <a:lnTo>
                    <a:pt x="22225254" y="4411599"/>
                  </a:lnTo>
                  <a:lnTo>
                    <a:pt x="22206204" y="4411599"/>
                  </a:lnTo>
                  <a:lnTo>
                    <a:pt x="22206204" y="19050"/>
                  </a:lnTo>
                  <a:lnTo>
                    <a:pt x="22225254" y="19050"/>
                  </a:lnTo>
                  <a:lnTo>
                    <a:pt x="22225254" y="38100"/>
                  </a:lnTo>
                  <a:lnTo>
                    <a:pt x="19050" y="381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235402" y="6634544"/>
            <a:ext cx="10295039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0B0B0F"/>
                </a:solidFill>
                <a:latin typeface="Inter Bold"/>
                <a:ea typeface="Inter Bold"/>
                <a:cs typeface="Inter Bold"/>
                <a:sym typeface="Inter Bold"/>
              </a:rPr>
              <a:t>AI &amp; THE FUTURE OF HIGHER EDUCATION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667715" y="6625019"/>
            <a:ext cx="5490686" cy="398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1"/>
              </a:lnSpc>
            </a:pPr>
            <a:r>
              <a:rPr lang="en-US" sz="1501" i="true">
                <a:solidFill>
                  <a:srgbClr val="E26412"/>
                </a:solidFill>
                <a:latin typeface="Inter Italics"/>
                <a:ea typeface="Inter Italics"/>
                <a:cs typeface="Inter Italics"/>
                <a:sym typeface="Inter Italics"/>
              </a:rPr>
              <a:t>Research-driven · Ongoing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35402" y="7311361"/>
            <a:ext cx="15831026" cy="604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The AI wave is reshaping how students do assignments, how teachers grade, and how universities measure learning. Three open questions: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09941" y="7997695"/>
            <a:ext cx="15556497" cy="129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• How do you grade an assignment when ChatGPT writes a credible draft?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• How do you redesign coursework for AI-native students?</a:t>
            </a: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• How do you keep human judgment central without ignoring the tools?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5402" y="9095832"/>
            <a:ext cx="15831026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 i="true">
                <a:solidFill>
                  <a:srgbClr val="E26412"/>
                </a:solidFill>
                <a:latin typeface="Inter Italics"/>
                <a:ea typeface="Inter Italics"/>
                <a:cs typeface="Inter Italics"/>
                <a:sym typeface="Inter Italics"/>
              </a:rPr>
              <a:t>Lectu wants to be the research partner ENSIA uses to figure this out.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7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74202" y="480431"/>
            <a:ext cx="1304039" cy="439255"/>
            <a:chOff x="0" y="0"/>
            <a:chExt cx="1738719" cy="585673"/>
          </a:xfrm>
        </p:grpSpPr>
        <p:sp>
          <p:nvSpPr>
            <p:cNvPr name="Freeform 5" id="5" descr="_lectu-logo-wordmark.png"/>
            <p:cNvSpPr/>
            <p:nvPr/>
          </p:nvSpPr>
          <p:spPr>
            <a:xfrm flipH="false" flipV="false" rot="0">
              <a:off x="0" y="0"/>
              <a:ext cx="1738757" cy="585724"/>
            </a:xfrm>
            <a:custGeom>
              <a:avLst/>
              <a:gdLst/>
              <a:ahLst/>
              <a:cxnLst/>
              <a:rect r="r" b="b" t="t" l="l"/>
              <a:pathLst>
                <a:path h="585724" w="1738757">
                  <a:moveTo>
                    <a:pt x="0" y="0"/>
                  </a:moveTo>
                  <a:lnTo>
                    <a:pt x="1738757" y="0"/>
                  </a:lnTo>
                  <a:lnTo>
                    <a:pt x="1738757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927" r="2" b="-791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654634" y="9677343"/>
            <a:ext cx="13726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14 · 16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166774"/>
            <a:ext cx="16654634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WHAT WE NEED · 14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3608" y="1692926"/>
            <a:ext cx="16654634" cy="196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0B0B0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What we need from ENSIA.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23608" y="2745343"/>
            <a:ext cx="1098137" cy="47663"/>
            <a:chOff x="0" y="0"/>
            <a:chExt cx="1464183" cy="635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4183" cy="63500"/>
            </a:xfrm>
            <a:custGeom>
              <a:avLst/>
              <a:gdLst/>
              <a:ahLst/>
              <a:cxnLst/>
              <a:rect r="r" b="b" t="t" l="l"/>
              <a:pathLst>
                <a:path h="63500" w="1464183">
                  <a:moveTo>
                    <a:pt x="0" y="0"/>
                  </a:moveTo>
                  <a:lnTo>
                    <a:pt x="1464183" y="0"/>
                  </a:lnTo>
                  <a:lnTo>
                    <a:pt x="1464183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823608" y="3751936"/>
            <a:ext cx="686333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1.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78569" y="3820573"/>
            <a:ext cx="10912745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Continuation in the incubator — keep the slot, lab access, mentorship through end of 2026.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3608" y="4822622"/>
            <a:ext cx="686333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2.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78569" y="4891249"/>
            <a:ext cx="10912745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Formal ENSIA pilot agreement — official deployment for the 2026–27 academic year, multi-department rollout.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3608" y="5893308"/>
            <a:ext cx="686333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3.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78569" y="5961936"/>
            <a:ext cx="10912745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On-campus hosting capacity — Phase 1 migration to ENSIA datacenter, OR introduction to an Algerian hosting partner.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3608" y="6963985"/>
            <a:ext cx="686333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4.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78569" y="7032622"/>
            <a:ext cx="10912745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Pole introductions — warm intros to NHSM, ESI Algiers, and other Sidi Abdellah grandes écoles.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3608" y="8034671"/>
            <a:ext cx="686333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5.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78569" y="8103308"/>
            <a:ext cx="10912745" cy="869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Design + marketing recruiting — help connect us with ENSIA students for the open team roles.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898355" y="3701453"/>
            <a:ext cx="4676623" cy="5500221"/>
            <a:chOff x="0" y="0"/>
            <a:chExt cx="6235497" cy="73336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6222746" cy="7320915"/>
            </a:xfrm>
            <a:custGeom>
              <a:avLst/>
              <a:gdLst/>
              <a:ahLst/>
              <a:cxnLst/>
              <a:rect r="r" b="b" t="t" l="l"/>
              <a:pathLst>
                <a:path h="7320915" w="6222746">
                  <a:moveTo>
                    <a:pt x="0" y="0"/>
                  </a:moveTo>
                  <a:lnTo>
                    <a:pt x="6222746" y="0"/>
                  </a:lnTo>
                  <a:lnTo>
                    <a:pt x="6222746" y="7320915"/>
                  </a:lnTo>
                  <a:lnTo>
                    <a:pt x="0" y="7320915"/>
                  </a:ln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35446" cy="7333615"/>
            </a:xfrm>
            <a:custGeom>
              <a:avLst/>
              <a:gdLst/>
              <a:ahLst/>
              <a:cxnLst/>
              <a:rect r="r" b="b" t="t" l="l"/>
              <a:pathLst>
                <a:path h="7333615" w="6235446">
                  <a:moveTo>
                    <a:pt x="6350" y="0"/>
                  </a:moveTo>
                  <a:lnTo>
                    <a:pt x="6229096" y="0"/>
                  </a:lnTo>
                  <a:cubicBezTo>
                    <a:pt x="6232652" y="0"/>
                    <a:pt x="6235446" y="2794"/>
                    <a:pt x="6235446" y="6350"/>
                  </a:cubicBezTo>
                  <a:lnTo>
                    <a:pt x="6235446" y="7327265"/>
                  </a:lnTo>
                  <a:cubicBezTo>
                    <a:pt x="6235446" y="7330822"/>
                    <a:pt x="6232652" y="7333615"/>
                    <a:pt x="6229096" y="7333615"/>
                  </a:cubicBezTo>
                  <a:lnTo>
                    <a:pt x="6350" y="7333615"/>
                  </a:lnTo>
                  <a:cubicBezTo>
                    <a:pt x="2794" y="7333615"/>
                    <a:pt x="0" y="7330822"/>
                    <a:pt x="0" y="7327265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7327265"/>
                  </a:lnTo>
                  <a:lnTo>
                    <a:pt x="6350" y="7327265"/>
                  </a:lnTo>
                  <a:lnTo>
                    <a:pt x="6350" y="7320915"/>
                  </a:lnTo>
                  <a:lnTo>
                    <a:pt x="6229096" y="7320915"/>
                  </a:lnTo>
                  <a:lnTo>
                    <a:pt x="6229096" y="7327265"/>
                  </a:lnTo>
                  <a:lnTo>
                    <a:pt x="6222746" y="7327265"/>
                  </a:lnTo>
                  <a:lnTo>
                    <a:pt x="6222746" y="6350"/>
                  </a:lnTo>
                  <a:lnTo>
                    <a:pt x="6229096" y="6350"/>
                  </a:lnTo>
                  <a:lnTo>
                    <a:pt x="6229096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C7C2B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246284" y="4085577"/>
            <a:ext cx="3980755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WHAT'S BLOCKING US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46284" y="4703283"/>
            <a:ext cx="3980755" cy="4310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· Hosting depends on capacity</a:t>
            </a:r>
          </a:p>
          <a:p>
            <a:pPr algn="l">
              <a:lnSpc>
                <a:spcPts val="1981"/>
              </a:lnSpc>
            </a:pP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· Multi-teacher activation slow without endorsement</a:t>
            </a:r>
          </a:p>
          <a:p>
            <a:pPr algn="l">
              <a:lnSpc>
                <a:spcPts val="1981"/>
              </a:lnSpc>
            </a:pP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· No formal pilot agreement yet</a:t>
            </a:r>
          </a:p>
          <a:p>
            <a:pPr algn="l">
              <a:lnSpc>
                <a:spcPts val="1981"/>
              </a:lnSpc>
            </a:pPr>
          </a:p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· No design or marketing capacity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7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74202" y="480431"/>
            <a:ext cx="1304039" cy="439255"/>
            <a:chOff x="0" y="0"/>
            <a:chExt cx="1738719" cy="585673"/>
          </a:xfrm>
        </p:grpSpPr>
        <p:sp>
          <p:nvSpPr>
            <p:cNvPr name="Freeform 5" id="5" descr="_lectu-logo-wordmark.png"/>
            <p:cNvSpPr/>
            <p:nvPr/>
          </p:nvSpPr>
          <p:spPr>
            <a:xfrm flipH="false" flipV="false" rot="0">
              <a:off x="0" y="0"/>
              <a:ext cx="1738757" cy="585724"/>
            </a:xfrm>
            <a:custGeom>
              <a:avLst/>
              <a:gdLst/>
              <a:ahLst/>
              <a:cxnLst/>
              <a:rect r="r" b="b" t="t" l="l"/>
              <a:pathLst>
                <a:path h="585724" w="1738757">
                  <a:moveTo>
                    <a:pt x="0" y="0"/>
                  </a:moveTo>
                  <a:lnTo>
                    <a:pt x="1738757" y="0"/>
                  </a:lnTo>
                  <a:lnTo>
                    <a:pt x="1738757" y="585724"/>
                  </a:lnTo>
                  <a:lnTo>
                    <a:pt x="0" y="5857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927" r="2" b="-791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6654634" y="9677343"/>
            <a:ext cx="1372676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15 · 16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3608" y="1166774"/>
            <a:ext cx="16654634" cy="4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E26412"/>
                </a:solidFill>
                <a:latin typeface="Inter Bold"/>
                <a:ea typeface="Inter Bold"/>
                <a:cs typeface="Inter Bold"/>
                <a:sym typeface="Inter Bold"/>
              </a:rPr>
              <a:t>THE TEAM · 15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3608" y="1702451"/>
            <a:ext cx="16654634" cy="195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64"/>
              </a:lnSpc>
            </a:pPr>
            <a:r>
              <a:rPr lang="en-US" sz="4803" b="true">
                <a:solidFill>
                  <a:srgbClr val="0B0B0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Meet the team.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601847" y="2813980"/>
            <a:ext cx="1098137" cy="47663"/>
            <a:chOff x="0" y="0"/>
            <a:chExt cx="1464183" cy="635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64183" cy="63500"/>
            </a:xfrm>
            <a:custGeom>
              <a:avLst/>
              <a:gdLst/>
              <a:ahLst/>
              <a:cxnLst/>
              <a:rect r="r" b="b" t="t" l="l"/>
              <a:pathLst>
                <a:path h="63500" w="1464183">
                  <a:moveTo>
                    <a:pt x="0" y="0"/>
                  </a:moveTo>
                  <a:lnTo>
                    <a:pt x="1464183" y="0"/>
                  </a:lnTo>
                  <a:lnTo>
                    <a:pt x="1464183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07168" y="3564179"/>
            <a:ext cx="5294319" cy="3578485"/>
            <a:chOff x="0" y="0"/>
            <a:chExt cx="7059092" cy="477131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7046341" cy="4758563"/>
            </a:xfrm>
            <a:custGeom>
              <a:avLst/>
              <a:gdLst/>
              <a:ahLst/>
              <a:cxnLst/>
              <a:rect r="r" b="b" t="t" l="l"/>
              <a:pathLst>
                <a:path h="4758563" w="7046341">
                  <a:moveTo>
                    <a:pt x="0" y="0"/>
                  </a:moveTo>
                  <a:lnTo>
                    <a:pt x="7046341" y="0"/>
                  </a:lnTo>
                  <a:lnTo>
                    <a:pt x="7046341" y="4758563"/>
                  </a:lnTo>
                  <a:lnTo>
                    <a:pt x="0" y="4758563"/>
                  </a:lnTo>
                  <a:close/>
                </a:path>
              </a:pathLst>
            </a:custGeom>
            <a:solidFill>
              <a:srgbClr val="C7C2B6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059041" cy="4771263"/>
            </a:xfrm>
            <a:custGeom>
              <a:avLst/>
              <a:gdLst/>
              <a:ahLst/>
              <a:cxnLst/>
              <a:rect r="r" b="b" t="t" l="l"/>
              <a:pathLst>
                <a:path h="4771263" w="7059041">
                  <a:moveTo>
                    <a:pt x="6350" y="0"/>
                  </a:moveTo>
                  <a:lnTo>
                    <a:pt x="7052691" y="0"/>
                  </a:lnTo>
                  <a:cubicBezTo>
                    <a:pt x="7056248" y="0"/>
                    <a:pt x="7059041" y="2794"/>
                    <a:pt x="7059041" y="6350"/>
                  </a:cubicBezTo>
                  <a:lnTo>
                    <a:pt x="7059041" y="4764913"/>
                  </a:lnTo>
                  <a:cubicBezTo>
                    <a:pt x="7059041" y="4768469"/>
                    <a:pt x="7056248" y="4771263"/>
                    <a:pt x="7052691" y="4771263"/>
                  </a:cubicBezTo>
                  <a:lnTo>
                    <a:pt x="6350" y="4771263"/>
                  </a:lnTo>
                  <a:cubicBezTo>
                    <a:pt x="2794" y="4771263"/>
                    <a:pt x="0" y="4768469"/>
                    <a:pt x="0" y="476491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764913"/>
                  </a:lnTo>
                  <a:lnTo>
                    <a:pt x="6350" y="4764913"/>
                  </a:lnTo>
                  <a:lnTo>
                    <a:pt x="6350" y="4758563"/>
                  </a:lnTo>
                  <a:lnTo>
                    <a:pt x="7052691" y="4758563"/>
                  </a:lnTo>
                  <a:lnTo>
                    <a:pt x="7052691" y="4764913"/>
                  </a:lnTo>
                  <a:lnTo>
                    <a:pt x="7046341" y="4764913"/>
                  </a:lnTo>
                  <a:lnTo>
                    <a:pt x="7046341" y="6350"/>
                  </a:lnTo>
                  <a:lnTo>
                    <a:pt x="7052691" y="6350"/>
                  </a:lnTo>
                  <a:lnTo>
                    <a:pt x="7052691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5B5B66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11940" y="5183715"/>
            <a:ext cx="528478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i="true">
                <a:solidFill>
                  <a:srgbClr val="5B5B66"/>
                </a:solidFill>
                <a:latin typeface="Inter Italics"/>
                <a:ea typeface="Inter Italics"/>
                <a:cs typeface="Inter Italics"/>
                <a:sym typeface="Inter Italics"/>
              </a:rPr>
              <a:t>[ Founder Photo ]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1940" y="7379989"/>
            <a:ext cx="5284784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0B0B0F"/>
                </a:solidFill>
                <a:latin typeface="Inter Bold"/>
                <a:ea typeface="Inter Bold"/>
                <a:cs typeface="Inter Bold"/>
                <a:sym typeface="Inter Bold"/>
              </a:rPr>
              <a:t>[Founder 1]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11940" y="7938583"/>
            <a:ext cx="5284784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i="true">
                <a:solidFill>
                  <a:srgbClr val="E26412"/>
                </a:solidFill>
                <a:latin typeface="Inter Italics"/>
                <a:ea typeface="Inter Italics"/>
                <a:cs typeface="Inter Italics"/>
                <a:sym typeface="Inter Italics"/>
              </a:rPr>
              <a:t>Founder &amp; Full-Stack Lead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1940" y="8340862"/>
            <a:ext cx="528478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3rd-year ENSIA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86469" y="8821303"/>
            <a:ext cx="4735716" cy="8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Backend (FastAPI · Postgres · Redis) + frontend (Next.js · Tailwind) + product.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503756" y="3564179"/>
            <a:ext cx="5294319" cy="3578485"/>
            <a:chOff x="0" y="0"/>
            <a:chExt cx="7059092" cy="477131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7046341" cy="4758563"/>
            </a:xfrm>
            <a:custGeom>
              <a:avLst/>
              <a:gdLst/>
              <a:ahLst/>
              <a:cxnLst/>
              <a:rect r="r" b="b" t="t" l="l"/>
              <a:pathLst>
                <a:path h="4758563" w="7046341">
                  <a:moveTo>
                    <a:pt x="0" y="0"/>
                  </a:moveTo>
                  <a:lnTo>
                    <a:pt x="7046341" y="0"/>
                  </a:lnTo>
                  <a:lnTo>
                    <a:pt x="7046341" y="4758563"/>
                  </a:lnTo>
                  <a:lnTo>
                    <a:pt x="0" y="4758563"/>
                  </a:lnTo>
                  <a:close/>
                </a:path>
              </a:pathLst>
            </a:custGeom>
            <a:solidFill>
              <a:srgbClr val="C7C2B6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059041" cy="4771263"/>
            </a:xfrm>
            <a:custGeom>
              <a:avLst/>
              <a:gdLst/>
              <a:ahLst/>
              <a:cxnLst/>
              <a:rect r="r" b="b" t="t" l="l"/>
              <a:pathLst>
                <a:path h="4771263" w="7059041">
                  <a:moveTo>
                    <a:pt x="6350" y="0"/>
                  </a:moveTo>
                  <a:lnTo>
                    <a:pt x="7052691" y="0"/>
                  </a:lnTo>
                  <a:cubicBezTo>
                    <a:pt x="7056248" y="0"/>
                    <a:pt x="7059041" y="2794"/>
                    <a:pt x="7059041" y="6350"/>
                  </a:cubicBezTo>
                  <a:lnTo>
                    <a:pt x="7059041" y="4764913"/>
                  </a:lnTo>
                  <a:cubicBezTo>
                    <a:pt x="7059041" y="4768469"/>
                    <a:pt x="7056248" y="4771263"/>
                    <a:pt x="7052691" y="4771263"/>
                  </a:cubicBezTo>
                  <a:lnTo>
                    <a:pt x="6350" y="4771263"/>
                  </a:lnTo>
                  <a:cubicBezTo>
                    <a:pt x="2794" y="4771263"/>
                    <a:pt x="0" y="4768469"/>
                    <a:pt x="0" y="476491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764913"/>
                  </a:lnTo>
                  <a:lnTo>
                    <a:pt x="6350" y="4764913"/>
                  </a:lnTo>
                  <a:lnTo>
                    <a:pt x="6350" y="4758563"/>
                  </a:lnTo>
                  <a:lnTo>
                    <a:pt x="7052691" y="4758563"/>
                  </a:lnTo>
                  <a:lnTo>
                    <a:pt x="7052691" y="4764913"/>
                  </a:lnTo>
                  <a:lnTo>
                    <a:pt x="7046341" y="4764913"/>
                  </a:lnTo>
                  <a:lnTo>
                    <a:pt x="7046341" y="6350"/>
                  </a:lnTo>
                  <a:lnTo>
                    <a:pt x="7052691" y="6350"/>
                  </a:lnTo>
                  <a:lnTo>
                    <a:pt x="7052691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5B5B66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6508528" y="5183715"/>
            <a:ext cx="528478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i="true">
                <a:solidFill>
                  <a:srgbClr val="5B5B66"/>
                </a:solidFill>
                <a:latin typeface="Inter Italics"/>
                <a:ea typeface="Inter Italics"/>
                <a:cs typeface="Inter Italics"/>
                <a:sym typeface="Inter Italics"/>
              </a:rPr>
              <a:t>[ Founder Photo ]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08528" y="7379989"/>
            <a:ext cx="5284784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0B0B0F"/>
                </a:solidFill>
                <a:latin typeface="Inter Bold"/>
                <a:ea typeface="Inter Bold"/>
                <a:cs typeface="Inter Bold"/>
                <a:sym typeface="Inter Bold"/>
              </a:rPr>
              <a:t>[Founder 2]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508528" y="7938583"/>
            <a:ext cx="5284784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i="true">
                <a:solidFill>
                  <a:srgbClr val="E26412"/>
                </a:solidFill>
                <a:latin typeface="Inter Italics"/>
                <a:ea typeface="Inter Italics"/>
                <a:cs typeface="Inter Italics"/>
                <a:sym typeface="Inter Italics"/>
              </a:rPr>
              <a:t>Backend &amp; Infrastructure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08528" y="8340862"/>
            <a:ext cx="528478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3rd-year ENSIA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83057" y="8821303"/>
            <a:ext cx="4735716" cy="8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Async SQLAlchemy · WebSocket real-time · Alembic migrations.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200353" y="3564179"/>
            <a:ext cx="5294319" cy="3578485"/>
            <a:chOff x="0" y="0"/>
            <a:chExt cx="7059092" cy="477131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" y="6350"/>
              <a:ext cx="7046341" cy="4758563"/>
            </a:xfrm>
            <a:custGeom>
              <a:avLst/>
              <a:gdLst/>
              <a:ahLst/>
              <a:cxnLst/>
              <a:rect r="r" b="b" t="t" l="l"/>
              <a:pathLst>
                <a:path h="4758563" w="7046341">
                  <a:moveTo>
                    <a:pt x="0" y="0"/>
                  </a:moveTo>
                  <a:lnTo>
                    <a:pt x="7046341" y="0"/>
                  </a:lnTo>
                  <a:lnTo>
                    <a:pt x="7046341" y="4758563"/>
                  </a:lnTo>
                  <a:lnTo>
                    <a:pt x="0" y="4758563"/>
                  </a:lnTo>
                  <a:close/>
                </a:path>
              </a:pathLst>
            </a:custGeom>
            <a:solidFill>
              <a:srgbClr val="C7C2B6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059041" cy="4771263"/>
            </a:xfrm>
            <a:custGeom>
              <a:avLst/>
              <a:gdLst/>
              <a:ahLst/>
              <a:cxnLst/>
              <a:rect r="r" b="b" t="t" l="l"/>
              <a:pathLst>
                <a:path h="4771263" w="7059041">
                  <a:moveTo>
                    <a:pt x="6350" y="0"/>
                  </a:moveTo>
                  <a:lnTo>
                    <a:pt x="7052691" y="0"/>
                  </a:lnTo>
                  <a:cubicBezTo>
                    <a:pt x="7056248" y="0"/>
                    <a:pt x="7059041" y="2794"/>
                    <a:pt x="7059041" y="6350"/>
                  </a:cubicBezTo>
                  <a:lnTo>
                    <a:pt x="7059041" y="4764913"/>
                  </a:lnTo>
                  <a:cubicBezTo>
                    <a:pt x="7059041" y="4768469"/>
                    <a:pt x="7056248" y="4771263"/>
                    <a:pt x="7052691" y="4771263"/>
                  </a:cubicBezTo>
                  <a:lnTo>
                    <a:pt x="6350" y="4771263"/>
                  </a:lnTo>
                  <a:cubicBezTo>
                    <a:pt x="2794" y="4771263"/>
                    <a:pt x="0" y="4768469"/>
                    <a:pt x="0" y="4764913"/>
                  </a:cubicBezTo>
                  <a:lnTo>
                    <a:pt x="0" y="6350"/>
                  </a:lnTo>
                  <a:cubicBezTo>
                    <a:pt x="0" y="2794"/>
                    <a:pt x="2794" y="0"/>
                    <a:pt x="6350" y="0"/>
                  </a:cubicBezTo>
                  <a:moveTo>
                    <a:pt x="6350" y="12700"/>
                  </a:moveTo>
                  <a:lnTo>
                    <a:pt x="6350" y="6350"/>
                  </a:lnTo>
                  <a:lnTo>
                    <a:pt x="12700" y="6350"/>
                  </a:lnTo>
                  <a:lnTo>
                    <a:pt x="12700" y="4764913"/>
                  </a:lnTo>
                  <a:lnTo>
                    <a:pt x="6350" y="4764913"/>
                  </a:lnTo>
                  <a:lnTo>
                    <a:pt x="6350" y="4758563"/>
                  </a:lnTo>
                  <a:lnTo>
                    <a:pt x="7052691" y="4758563"/>
                  </a:lnTo>
                  <a:lnTo>
                    <a:pt x="7052691" y="4764913"/>
                  </a:lnTo>
                  <a:lnTo>
                    <a:pt x="7046341" y="4764913"/>
                  </a:lnTo>
                  <a:lnTo>
                    <a:pt x="7046341" y="6350"/>
                  </a:lnTo>
                  <a:lnTo>
                    <a:pt x="7052691" y="6350"/>
                  </a:lnTo>
                  <a:lnTo>
                    <a:pt x="7052691" y="12700"/>
                  </a:lnTo>
                  <a:lnTo>
                    <a:pt x="6350" y="12700"/>
                  </a:lnTo>
                  <a:close/>
                </a:path>
              </a:pathLst>
            </a:custGeom>
            <a:solidFill>
              <a:srgbClr val="5B5B6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2205116" y="5183715"/>
            <a:ext cx="5284784" cy="238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i="true">
                <a:solidFill>
                  <a:srgbClr val="5B5B66"/>
                </a:solidFill>
                <a:latin typeface="Inter Italics"/>
                <a:ea typeface="Inter Italics"/>
                <a:cs typeface="Inter Italics"/>
                <a:sym typeface="Inter Italics"/>
              </a:rPr>
              <a:t>[ Founder Photo ]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05116" y="7379989"/>
            <a:ext cx="5284784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0B0B0F"/>
                </a:solidFill>
                <a:latin typeface="Inter Bold"/>
                <a:ea typeface="Inter Bold"/>
                <a:cs typeface="Inter Bold"/>
                <a:sym typeface="Inter Bold"/>
              </a:rPr>
              <a:t>[Founder 3]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05116" y="7938583"/>
            <a:ext cx="5284784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91"/>
              </a:lnSpc>
            </a:pPr>
            <a:r>
              <a:rPr lang="en-US" sz="1576" i="true">
                <a:solidFill>
                  <a:srgbClr val="E26412"/>
                </a:solidFill>
                <a:latin typeface="Inter Italics"/>
                <a:ea typeface="Inter Italics"/>
                <a:cs typeface="Inter Italics"/>
                <a:sym typeface="Inter Italics"/>
              </a:rPr>
              <a:t>Frontend &amp; UX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205116" y="8340862"/>
            <a:ext cx="528478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3rd-year ENSIA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479645" y="8821303"/>
            <a:ext cx="4735716" cy="878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11"/>
              </a:lnSpc>
            </a:pPr>
            <a:r>
              <a:rPr lang="en-US" sz="1426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Editorial design system · Attendance grid · Quiz editor · Offline-first sync.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23608" y="9782165"/>
            <a:ext cx="16654634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i="true">
                <a:solidFill>
                  <a:srgbClr val="E26412"/>
                </a:solidFill>
                <a:latin typeface="Inter Italics"/>
                <a:ea typeface="Inter Italics"/>
                <a:cs typeface="Inter Italics"/>
                <a:sym typeface="Inter Italics"/>
              </a:rPr>
              <a:t>We are hiring  ·  Design lead  ·  Marketing / outreach lead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AF7F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748739" y="1921745"/>
            <a:ext cx="4804353" cy="1647206"/>
            <a:chOff x="0" y="0"/>
            <a:chExt cx="6405804" cy="2196274"/>
          </a:xfrm>
        </p:grpSpPr>
        <p:sp>
          <p:nvSpPr>
            <p:cNvPr name="Freeform 5" id="5" descr="_lectu-logo-wordmark.png"/>
            <p:cNvSpPr/>
            <p:nvPr/>
          </p:nvSpPr>
          <p:spPr>
            <a:xfrm flipH="false" flipV="false" rot="0">
              <a:off x="0" y="0"/>
              <a:ext cx="6405753" cy="2196338"/>
            </a:xfrm>
            <a:custGeom>
              <a:avLst/>
              <a:gdLst/>
              <a:ahLst/>
              <a:cxnLst/>
              <a:rect r="r" b="b" t="t" l="l"/>
              <a:pathLst>
                <a:path h="2196338" w="6405753">
                  <a:moveTo>
                    <a:pt x="0" y="0"/>
                  </a:moveTo>
                  <a:lnTo>
                    <a:pt x="6405753" y="0"/>
                  </a:lnTo>
                  <a:lnTo>
                    <a:pt x="6405753" y="2196338"/>
                  </a:lnTo>
                  <a:lnTo>
                    <a:pt x="0" y="2196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831" r="0" b="-682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327317" y="3912118"/>
            <a:ext cx="1647206" cy="47663"/>
            <a:chOff x="0" y="0"/>
            <a:chExt cx="2196274" cy="635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6338" cy="63500"/>
            </a:xfrm>
            <a:custGeom>
              <a:avLst/>
              <a:gdLst/>
              <a:ahLst/>
              <a:cxnLst/>
              <a:rect r="r" b="b" t="t" l="l"/>
              <a:pathLst>
                <a:path h="63500" w="2196338">
                  <a:moveTo>
                    <a:pt x="0" y="0"/>
                  </a:moveTo>
                  <a:lnTo>
                    <a:pt x="2196338" y="0"/>
                  </a:lnTo>
                  <a:lnTo>
                    <a:pt x="2196338" y="63500"/>
                  </a:lnTo>
                  <a:lnTo>
                    <a:pt x="0" y="63500"/>
                  </a:lnTo>
                  <a:close/>
                </a:path>
              </a:pathLst>
            </a:custGeom>
            <a:solidFill>
              <a:srgbClr val="E26412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8570076" y="1921745"/>
            <a:ext cx="1161698" cy="1161698"/>
          </a:xfrm>
          <a:custGeom>
            <a:avLst/>
            <a:gdLst/>
            <a:ahLst/>
            <a:cxnLst/>
            <a:rect r="r" b="b" t="t" l="l"/>
            <a:pathLst>
              <a:path h="1161698" w="1161698">
                <a:moveTo>
                  <a:pt x="0" y="0"/>
                </a:moveTo>
                <a:lnTo>
                  <a:pt x="1161698" y="0"/>
                </a:lnTo>
                <a:lnTo>
                  <a:pt x="1161698" y="1161698"/>
                </a:lnTo>
                <a:lnTo>
                  <a:pt x="0" y="1161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23608" y="4301004"/>
            <a:ext cx="16654634" cy="196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65"/>
              </a:lnSpc>
            </a:pPr>
            <a:r>
              <a:rPr lang="en-US" sz="6304" b="true">
                <a:solidFill>
                  <a:srgbClr val="0B0B0F"/>
                </a:solidFill>
                <a:latin typeface="Source Serif Pro Bold"/>
                <a:ea typeface="Source Serif Pro Bold"/>
                <a:cs typeface="Source Serif Pro Bold"/>
                <a:sym typeface="Source Serif Pro Bold"/>
              </a:rPr>
              <a:t>Thank you.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23608" y="6085475"/>
            <a:ext cx="16654634" cy="1006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i="true">
                <a:solidFill>
                  <a:srgbClr val="5B5B66"/>
                </a:solidFill>
                <a:latin typeface="Inter Italics"/>
                <a:ea typeface="Inter Italics"/>
                <a:cs typeface="Inter Italics"/>
                <a:sym typeface="Inter Italics"/>
              </a:rPr>
              <a:t>Special thanks to Dr. Brahimi Mohamed and the ENSIA incubator program</a:t>
            </a:r>
          </a:p>
          <a:p>
            <a:pPr algn="ctr">
              <a:lnSpc>
                <a:spcPts val="2161"/>
              </a:lnSpc>
            </a:pPr>
            <a:r>
              <a:rPr lang="en-US" sz="1801" i="true">
                <a:solidFill>
                  <a:srgbClr val="5B5B66"/>
                </a:solidFill>
                <a:latin typeface="Inter Italics"/>
                <a:ea typeface="Inter Italics"/>
                <a:cs typeface="Inter Italics"/>
                <a:sym typeface="Inter Italics"/>
              </a:rPr>
              <a:t>for ongoing mentorship and guidance.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23608" y="7448626"/>
            <a:ext cx="16654634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0B0B0F"/>
                </a:solidFill>
                <a:latin typeface="Inter"/>
                <a:ea typeface="Inter"/>
                <a:cs typeface="Inter"/>
                <a:sym typeface="Inter"/>
              </a:rPr>
              <a:t>Lectu — Built for the Algerian university classroom.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3608" y="8203597"/>
            <a:ext cx="1665463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>
                <a:solidFill>
                  <a:srgbClr val="5B5B66"/>
                </a:solidFill>
                <a:latin typeface="Inter"/>
                <a:ea typeface="Inter"/>
                <a:cs typeface="Inter"/>
                <a:sym typeface="Inter"/>
              </a:rPr>
              <a:t>[contact email]   ·   [Lectu URL]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23608" y="8968092"/>
            <a:ext cx="16654634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i="true">
                <a:solidFill>
                  <a:srgbClr val="E26412"/>
                </a:solidFill>
                <a:latin typeface="Inter Italics"/>
                <a:ea typeface="Inter Italics"/>
                <a:cs typeface="Inter Italics"/>
                <a:sym typeface="Inter Italics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DAHI5pmghVU</dc:identifier>
  <dcterms:modified xsi:type="dcterms:W3CDTF">2011-08-01T06:04:30Z</dcterms:modified>
  <cp:revision>1</cp:revision>
  <dc:title>Lectu — ENSIA Pitch Deck (PPTX import)</dc:title>
</cp:coreProperties>
</file>